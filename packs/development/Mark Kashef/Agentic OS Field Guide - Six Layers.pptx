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7e99101ed44a4a" /><Relationship Type="http://schemas.openxmlformats.org/officeDocument/2006/relationships/extended-properties" Target="/docProps/app.xml" Id="R22b1825a90614038" /><Relationship Type="http://schemas.openxmlformats.org/officeDocument/2006/relationships/officeDocument" Target="/ppt/presentation.xml" Id="Rd3cdc405639e45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b3612069424f1e"/>
  </p:sldMasterIdLst>
  <p:notesMasterIdLst>
    <p:notesMasterId xmlns:r="http://schemas.openxmlformats.org/officeDocument/2006/relationships" r:id="R2e4e25b6f07a4576"/>
  </p:notesMasterIdLst>
  <p:sldIdLst>
    <p:sldId xmlns:r="http://schemas.openxmlformats.org/officeDocument/2006/relationships" id="256" r:id="R93aabf0eb85b4060"/>
    <p:sldId xmlns:r="http://schemas.openxmlformats.org/officeDocument/2006/relationships" id="257" r:id="R19ab759d2f024e64"/>
    <p:sldId xmlns:r="http://schemas.openxmlformats.org/officeDocument/2006/relationships" id="258" r:id="Rf40f1e75fbbb4972"/>
    <p:sldId xmlns:r="http://schemas.openxmlformats.org/officeDocument/2006/relationships" id="259" r:id="Rf79413afd75b4cd9"/>
    <p:sldId xmlns:r="http://schemas.openxmlformats.org/officeDocument/2006/relationships" id="260" r:id="R8ebe5d9c11ea4254"/>
    <p:sldId xmlns:r="http://schemas.openxmlformats.org/officeDocument/2006/relationships" id="261" r:id="R59a98edac1414e0a"/>
    <p:sldId xmlns:r="http://schemas.openxmlformats.org/officeDocument/2006/relationships" id="262" r:id="R0b9cb8aff86c43fc"/>
    <p:sldId xmlns:r="http://schemas.openxmlformats.org/officeDocument/2006/relationships" id="263" r:id="R40fbcb5c3ad34979"/>
    <p:sldId xmlns:r="http://schemas.openxmlformats.org/officeDocument/2006/relationships" id="264" r:id="R56d34f1584e74f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831d63edf3409e" /><Relationship Type="http://schemas.openxmlformats.org/officeDocument/2006/relationships/slideMaster" Target="/ppt/slideMasters/slideMaster1.xml" Id="Rc9b3612069424f1e" /><Relationship Type="http://schemas.openxmlformats.org/officeDocument/2006/relationships/notesMaster" Target="/ppt/notesMasters/notesMaster1.xml" Id="R2e4e25b6f07a4576" /><Relationship Type="http://schemas.openxmlformats.org/officeDocument/2006/relationships/presProps" Target="/ppt/presProps.xml" Id="Rc81c8aac40d2476c" /><Relationship Type="http://schemas.openxmlformats.org/officeDocument/2006/relationships/tableStyles" Target="/ppt/tableStyles.xml" Id="Rac9d66e009a34b80" /><Relationship Type="http://schemas.openxmlformats.org/officeDocument/2006/relationships/slide" Target="/ppt/slides/slide1.xml" Id="R93aabf0eb85b4060" /><Relationship Type="http://schemas.openxmlformats.org/officeDocument/2006/relationships/slide" Target="/ppt/slides/slide2.xml" Id="R19ab759d2f024e64" /><Relationship Type="http://schemas.openxmlformats.org/officeDocument/2006/relationships/slide" Target="/ppt/slides/slide3.xml" Id="Rf40f1e75fbbb4972" /><Relationship Type="http://schemas.openxmlformats.org/officeDocument/2006/relationships/slide" Target="/ppt/slides/slide4.xml" Id="Rf79413afd75b4cd9" /><Relationship Type="http://schemas.openxmlformats.org/officeDocument/2006/relationships/slide" Target="/ppt/slides/slide5.xml" Id="R8ebe5d9c11ea4254" /><Relationship Type="http://schemas.openxmlformats.org/officeDocument/2006/relationships/slide" Target="/ppt/slides/slide6.xml" Id="R59a98edac1414e0a" /><Relationship Type="http://schemas.openxmlformats.org/officeDocument/2006/relationships/slide" Target="/ppt/slides/slide7.xml" Id="R0b9cb8aff86c43fc" /><Relationship Type="http://schemas.openxmlformats.org/officeDocument/2006/relationships/slide" Target="/ppt/slides/slide8.xml" Id="R40fbcb5c3ad34979" /><Relationship Type="http://schemas.openxmlformats.org/officeDocument/2006/relationships/slide" Target="/ppt/slides/slide9.xml" Id="R56d34f1584e74f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308b502f844f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7f3ec2ad1145e5" /><Relationship Type="http://schemas.openxmlformats.org/officeDocument/2006/relationships/notesMaster" Target="/ppt/notesMasters/notesMaster1.xml" Id="R95f11a3e353b4b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beb457b9314dbd" /><Relationship Type="http://schemas.openxmlformats.org/officeDocument/2006/relationships/notesMaster" Target="/ppt/notesMasters/notesMaster1.xml" Id="R255da6683c7f4c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6ea5c94b364e74" /><Relationship Type="http://schemas.openxmlformats.org/officeDocument/2006/relationships/notesMaster" Target="/ppt/notesMasters/notesMaster1.xml" Id="R2dc6e00b33f24d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fcdabf82594c95" /><Relationship Type="http://schemas.openxmlformats.org/officeDocument/2006/relationships/notesMaster" Target="/ppt/notesMasters/notesMaster1.xml" Id="R86b5c3e696c949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c9ed986644416a" /><Relationship Type="http://schemas.openxmlformats.org/officeDocument/2006/relationships/notesMaster" Target="/ppt/notesMasters/notesMaster1.xml" Id="Re9f97fc743114e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711bb964f14df2" /><Relationship Type="http://schemas.openxmlformats.org/officeDocument/2006/relationships/notesMaster" Target="/ppt/notesMasters/notesMaster1.xml" Id="Rb697c3ec12944a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0c6e02d23a42f1" /><Relationship Type="http://schemas.openxmlformats.org/officeDocument/2006/relationships/notesMaster" Target="/ppt/notesMasters/notesMaster1.xml" Id="Ra55f5357fa3845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5e6388ffbe4fa3" /><Relationship Type="http://schemas.openxmlformats.org/officeDocument/2006/relationships/notesMaster" Target="/ppt/notesMasters/notesMaster1.xml" Id="R0822d5be5fdd49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9e10b1f5a2447a" /><Relationship Type="http://schemas.openxmlformats.org/officeDocument/2006/relationships/notesMaster" Target="/ppt/notesMasters/notesMaster1.xml" Id="R70765064564742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distinction between a polished dashboard and the underlying operating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framework: The Agentic OS Field Guide, Prompt Advisers, 2026.</a:t>
            </a:r>
          </a:p>
          <a:p xmlns:a="http://schemas.openxmlformats.org/drawingml/2006/main">
            <a:r>
              <a:t>- User-confirmed layer order and color mapping, July 28,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stack from the durable core toward the volatile surface.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framework: The Agentic OS Field Guide, Prompt Advisers, 2026.</a:t>
            </a:r>
          </a:p>
          <a:p xmlns:a="http://schemas.openxmlformats.org/drawingml/2006/main">
            <a:r>
              <a:t>- User-confirmed layer order and color mapping, July 28,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distinguish Identity from the layer immediately outside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framework: The Agentic OS Field Guide, Prompt Advisers, 2026.</a:t>
            </a:r>
          </a:p>
          <a:p xmlns:a="http://schemas.openxmlformats.org/drawingml/2006/main">
            <a:r>
              <a:t>- User-confirmed layer order and color mapping, July 28,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distinguish Substrate from the layer immediately outside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framework: The Agentic OS Field Guide, Prompt Advisers, 2026.</a:t>
            </a:r>
          </a:p>
          <a:p xmlns:a="http://schemas.openxmlformats.org/drawingml/2006/main">
            <a:r>
              <a:t>- User-confirmed layer order and color mapping, July 28,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distinguish Rules + Hooks from the layer immediately outside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framework: The Agentic OS Field Guide, Prompt Advisers, 2026.</a:t>
            </a:r>
          </a:p>
          <a:p xmlns:a="http://schemas.openxmlformats.org/drawingml/2006/main">
            <a:r>
              <a:t>- User-confirmed layer order and color mapping, July 28,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distinguish Skills from the layer immediately outside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framework: The Agentic OS Field Guide, Prompt Advisers, 2026.</a:t>
            </a:r>
          </a:p>
          <a:p xmlns:a="http://schemas.openxmlformats.org/drawingml/2006/main">
            <a:r>
              <a:t>- User-confirmed layer order and color mapping, July 28,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distinguish Agents from the layer immediately outside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framework: The Agentic OS Field Guide, Prompt Advisers, 2026.</a:t>
            </a:r>
          </a:p>
          <a:p xmlns:a="http://schemas.openxmlformats.org/drawingml/2006/main">
            <a:r>
              <a:t>- User-confirmed layer order and color mapping, July 28,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distinguish Tools + Data from the layer immediately outside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framework: The Agentic OS Field Guide, Prompt Advisers, 2026.</a:t>
            </a:r>
          </a:p>
          <a:p xmlns:a="http://schemas.openxmlformats.org/drawingml/2006/main">
            <a:r>
              <a:t>- User-confirmed layer order and color mapping, July 28,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giving the audience a minimal build sequence they can start immediately.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framework: The Agentic OS Field Guide, Prompt Advisers, 2026.</a:t>
            </a:r>
          </a:p>
          <a:p xmlns:a="http://schemas.openxmlformats.org/drawingml/2006/main">
            <a:r>
              <a:t>- User-confirmed layer order and color mapping, July 28,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81c83de72845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650546b7cb4bed" /><Relationship Type="http://schemas.openxmlformats.org/officeDocument/2006/relationships/slideLayout" Target="/ppt/slideLayouts/slideLayout1.xml" Id="Rbadc6a7fcaea4f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dc6a7fcaea4f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015ad4e134d88" /><Relationship Type="http://schemas.openxmlformats.org/officeDocument/2006/relationships/notesSlide" Target="/ppt/notesSlides/notesSlide1.xml" Id="Rfc340a355e5942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5c3e9e2f84a06" /><Relationship Type="http://schemas.openxmlformats.org/officeDocument/2006/relationships/notesSlide" Target="/ppt/notesSlides/notesSlide2.xml" Id="R29f0dd4551244c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4c9f610384afc" /><Relationship Type="http://schemas.openxmlformats.org/officeDocument/2006/relationships/notesSlide" Target="/ppt/notesSlides/notesSlide3.xml" Id="R3d582241bcf348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5d1e9da5b404c" /><Relationship Type="http://schemas.openxmlformats.org/officeDocument/2006/relationships/notesSlide" Target="/ppt/notesSlides/notesSlide4.xml" Id="R5a755801dbcc4a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59c667f12436c" /><Relationship Type="http://schemas.openxmlformats.org/officeDocument/2006/relationships/notesSlide" Target="/ppt/notesSlides/notesSlide5.xml" Id="R57e5a945483445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f00a08ad24ade" /><Relationship Type="http://schemas.openxmlformats.org/officeDocument/2006/relationships/notesSlide" Target="/ppt/notesSlides/notesSlide6.xml" Id="Rac95503f1b4743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cb2bdc6314665" /><Relationship Type="http://schemas.openxmlformats.org/officeDocument/2006/relationships/notesSlide" Target="/ppt/notesSlides/notesSlide7.xml" Id="Rba2daa179b9f47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0328732aa4a21" /><Relationship Type="http://schemas.openxmlformats.org/officeDocument/2006/relationships/notesSlide" Target="/ppt/notesSlides/notesSlide8.xml" Id="Rb04cfb0b0eac49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4c9c399ab4508" /><Relationship Type="http://schemas.openxmlformats.org/officeDocument/2006/relationships/notesSlide" Target="/ppt/notesSlides/notesSlide9.xml" Id="R45cd31c585574c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905C5F5F-FA51-489A-9ACC-EBCF60D3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F7651"/>
                </a:solidFill>
              </a:defRPr>
            </a:pPr>
            <a:r>
              <a:rPr sz="1050" b="1" i="0">
                <a:solidFill>
                  <a:srgbClr val="DF7651"/>
                </a:solidFill>
              </a:rPr>
              <a:t>PROMPT ADVISERS  /  WORKLESS AI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3A3FE97-0755-4EE4-879E-CC650B79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00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17191C"/>
                </a:solidFill>
              </a:defRPr>
            </a:pPr>
            <a:r>
              <a:rPr sz="5850" b="1" i="0">
                <a:solidFill>
                  <a:srgbClr val="17191C"/>
                </a:solidFill>
              </a:rPr>
              <a:t>The Agentic</a:t>
            </a:r>
          </a:p>
          <a:p xmlns:a="http://schemas.openxmlformats.org/drawingml/2006/main">
            <a:pPr algn="l">
              <a:defRPr sz="5850" b="1" i="0">
                <a:solidFill>
                  <a:srgbClr val="17191C"/>
                </a:solidFill>
              </a:defRPr>
            </a:pPr>
            <a:r>
              <a:rPr sz="5850" b="1" i="0">
                <a:solidFill>
                  <a:srgbClr val="17191C"/>
                </a:solidFill>
              </a:rPr>
              <a:t>OS Field Guide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8E43ADA-486B-4A61-B98E-B1838581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F6B63"/>
                </a:solidFill>
              </a:defRPr>
            </a:pPr>
            <a:r>
              <a:rPr sz="1875" b="0" i="0">
                <a:solidFill>
                  <a:srgbClr val="6F6B63"/>
                </a:solidFill>
              </a:rPr>
              <a:t>Six layers for building an AI operating system that compounds.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785E427-B864-409D-9475-0FCAE65F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44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F7651"/>
            </a:solidFill>
            <a:prstDash val="solid"/>
          </a:ln>
        </p:spPr>
      </p:sp>
      <p:sp>
        <p:nvSpPr>
          <p:cNvPr id="5" name="title-foot">
            <a:extLst xmlns:a="http://schemas.openxmlformats.org/drawingml/2006/main">
              <a:ext uri="{FF2B5EF4-FFF2-40B4-BE49-F238E27FC236}">
                <a16:creationId xmlns:a16="http://schemas.microsoft.com/office/drawing/2014/main" id="{D0F081F4-F3AF-4F45-A25C-32220FF9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191C"/>
                </a:solidFill>
              </a:defRPr>
            </a:pPr>
            <a:r>
              <a:rPr sz="1050" b="1" i="0">
                <a:solidFill>
                  <a:srgbClr val="17191C"/>
                </a:solidFill>
              </a:rPr>
              <a:t>BUILD INSIDE OUT  ·  MAINTAIN OUTSIDE IN</a:t>
            </a:r>
          </a:p>
        </p:txBody>
      </p:sp>
      <p:sp>
        <p:nvSpPr>
          <p:cNvPr id="6" name="title-orb-500">
            <a:extLst xmlns:a="http://schemas.openxmlformats.org/drawingml/2006/main">
              <a:ext uri="{FF2B5EF4-FFF2-40B4-BE49-F238E27FC236}">
                <a16:creationId xmlns:a16="http://schemas.microsoft.com/office/drawing/2014/main" id="{D35DDBE1-E512-4693-BE7C-27DF2523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525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91B9"/>
          </a:solidFill>
          <a:ln xmlns:a="http://schemas.openxmlformats.org/drawingml/2006/main" w="28575">
            <a:solidFill>
              <a:srgbClr val="F4EFE5"/>
            </a:solidFill>
            <a:prstDash val="solid"/>
          </a:ln>
        </p:spPr>
      </p:sp>
      <p:sp>
        <p:nvSpPr>
          <p:cNvPr id="7" name="title-orb-418">
            <a:extLst xmlns:a="http://schemas.openxmlformats.org/drawingml/2006/main">
              <a:ext uri="{FF2B5EF4-FFF2-40B4-BE49-F238E27FC236}">
                <a16:creationId xmlns:a16="http://schemas.microsoft.com/office/drawing/2014/main" id="{A23F6594-A848-4DC4-868A-632FE78E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343025"/>
            <a:ext cx="3981450" cy="398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62A1"/>
          </a:solidFill>
          <a:ln xmlns:a="http://schemas.openxmlformats.org/drawingml/2006/main" w="28575">
            <a:solidFill>
              <a:srgbClr val="F4EFE5"/>
            </a:solidFill>
            <a:prstDash val="solid"/>
          </a:ln>
        </p:spPr>
      </p:sp>
      <p:sp>
        <p:nvSpPr>
          <p:cNvPr id="8" name="title-orb-340">
            <a:extLst xmlns:a="http://schemas.openxmlformats.org/drawingml/2006/main">
              <a:ext uri="{FF2B5EF4-FFF2-40B4-BE49-F238E27FC236}">
                <a16:creationId xmlns:a16="http://schemas.microsoft.com/office/drawing/2014/main" id="{BCB274A6-03C6-4A6D-A262-B471BAAF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8F67"/>
          </a:solidFill>
          <a:ln xmlns:a="http://schemas.openxmlformats.org/drawingml/2006/main" w="28575">
            <a:solidFill>
              <a:srgbClr val="F4EFE5"/>
            </a:solidFill>
            <a:prstDash val="solid"/>
          </a:ln>
        </p:spPr>
      </p:sp>
      <p:sp>
        <p:nvSpPr>
          <p:cNvPr id="9" name="title-orb-266">
            <a:extLst xmlns:a="http://schemas.openxmlformats.org/drawingml/2006/main">
              <a:ext uri="{FF2B5EF4-FFF2-40B4-BE49-F238E27FC236}">
                <a16:creationId xmlns:a16="http://schemas.microsoft.com/office/drawing/2014/main" id="{6E62B3B2-D91F-4369-B3D1-5A2C720D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066925"/>
            <a:ext cx="2533650" cy="2533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8C2C"/>
          </a:solidFill>
          <a:ln xmlns:a="http://schemas.openxmlformats.org/drawingml/2006/main" w="28575">
            <a:solidFill>
              <a:srgbClr val="F4EFE5"/>
            </a:solidFill>
            <a:prstDash val="solid"/>
          </a:ln>
        </p:spPr>
      </p:sp>
      <p:sp>
        <p:nvSpPr>
          <p:cNvPr id="10" name="title-orb-194">
            <a:extLst xmlns:a="http://schemas.openxmlformats.org/drawingml/2006/main">
              <a:ext uri="{FF2B5EF4-FFF2-40B4-BE49-F238E27FC236}">
                <a16:creationId xmlns:a16="http://schemas.microsoft.com/office/drawing/2014/main" id="{6BB529DE-8370-43C7-837F-EFED7529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09825"/>
            <a:ext cx="1847850" cy="1847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651"/>
          </a:solidFill>
          <a:ln xmlns:a="http://schemas.openxmlformats.org/drawingml/2006/main" w="28575">
            <a:solidFill>
              <a:srgbClr val="F4EFE5"/>
            </a:solidFill>
            <a:prstDash val="solid"/>
          </a:ln>
        </p:spPr>
      </p:sp>
      <p:sp>
        <p:nvSpPr>
          <p:cNvPr id="11" name="title-orb-114">
            <a:extLst xmlns:a="http://schemas.openxmlformats.org/drawingml/2006/main">
              <a:ext uri="{FF2B5EF4-FFF2-40B4-BE49-F238E27FC236}">
                <a16:creationId xmlns:a16="http://schemas.microsoft.com/office/drawing/2014/main" id="{693A34D0-842B-477A-BF9F-3CB54C73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90825"/>
            <a:ext cx="1085850" cy="1085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28575">
            <a:solidFill>
              <a:srgbClr val="F4EFE5"/>
            </a:solidFill>
            <a:prstDash val="solid"/>
          </a:ln>
        </p:spPr>
      </p:sp>
      <p:sp>
        <p:nvSpPr>
          <p:cNvPr id="12" name="title-core-glint">
            <a:extLst xmlns:a="http://schemas.openxmlformats.org/drawingml/2006/main">
              <a:ext uri="{FF2B5EF4-FFF2-40B4-BE49-F238E27FC236}">
                <a16:creationId xmlns:a16="http://schemas.microsoft.com/office/drawing/2014/main" id="{98751BC5-AF05-4B75-9DF8-11C012E2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28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0">
            <a:solidFill>
              <a:srgbClr val="F4EFE5"/>
            </a:solidFill>
            <a:prstDash val="solid"/>
          </a:ln>
        </p:spPr>
      </p:sp>
      <p:sp>
        <p:nvSpPr>
          <p:cNvPr id="13" name="footer-1">
            <a:extLst xmlns:a="http://schemas.openxmlformats.org/drawingml/2006/main">
              <a:ext uri="{FF2B5EF4-FFF2-40B4-BE49-F238E27FC236}">
                <a16:creationId xmlns:a16="http://schemas.microsoft.com/office/drawing/2014/main" id="{D8D428BB-97BF-4AC6-8F39-16DD91B2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6B63"/>
                </a:solidFill>
              </a:defRPr>
            </a:pPr>
            <a:r>
              <a:rPr sz="825" b="1" i="0">
                <a:solidFill>
                  <a:srgbClr val="6F6B63"/>
                </a:solidFill>
              </a:rPr>
              <a:t>THE AGENTIC OS FIELD GUIDE</a:t>
            </a:r>
          </a:p>
        </p:txBody>
      </p:sp>
      <p:sp>
        <p:nvSpPr>
          <p:cNvPr id="14" name="page-1">
            <a:extLst xmlns:a="http://schemas.openxmlformats.org/drawingml/2006/main">
              <a:ext uri="{FF2B5EF4-FFF2-40B4-BE49-F238E27FC236}">
                <a16:creationId xmlns:a16="http://schemas.microsoft.com/office/drawing/2014/main" id="{88F74F98-0372-436A-87DC-2A7C40B6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6B63"/>
                </a:solidFill>
              </a:defRPr>
            </a:pPr>
            <a:r>
              <a:rPr sz="825" b="1" i="0">
                <a:solidFill>
                  <a:srgbClr val="6F6B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33952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overview-eyebrow">
            <a:extLst xmlns:a="http://schemas.openxmlformats.org/drawingml/2006/main">
              <a:ext uri="{FF2B5EF4-FFF2-40B4-BE49-F238E27FC236}">
                <a16:creationId xmlns:a16="http://schemas.microsoft.com/office/drawing/2014/main" id="{785821EB-1481-4166-A978-0103AD6E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F7651"/>
                </a:solidFill>
              </a:defRPr>
            </a:pPr>
            <a:r>
              <a:rPr sz="1050" b="1" i="0">
                <a:solidFill>
                  <a:srgbClr val="DF7651"/>
                </a:solidFill>
              </a:rPr>
              <a:t>THE ARCHITECTURE</a:t>
            </a:r>
          </a:p>
        </p:txBody>
      </p:sp>
      <p:sp>
        <p:nvSpPr>
          <p:cNvPr id="2" name="overview-title">
            <a:extLst xmlns:a="http://schemas.openxmlformats.org/drawingml/2006/main">
              <a:ext uri="{FF2B5EF4-FFF2-40B4-BE49-F238E27FC236}">
                <a16:creationId xmlns:a16="http://schemas.microsoft.com/office/drawing/2014/main" id="{C8D6776A-26E7-4AA5-B8BA-63579DB4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7191C"/>
                </a:solidFill>
              </a:defRPr>
            </a:pPr>
            <a:r>
              <a:rPr sz="3750" b="1" i="0">
                <a:solidFill>
                  <a:srgbClr val="17191C"/>
                </a:solidFill>
              </a:rPr>
              <a:t>Six layers. One operating system.</a:t>
            </a:r>
          </a:p>
        </p:txBody>
      </p:sp>
      <p:sp>
        <p:nvSpPr>
          <p:cNvPr id="3" name="overview-deck">
            <a:extLst xmlns:a="http://schemas.openxmlformats.org/drawingml/2006/main">
              <a:ext uri="{FF2B5EF4-FFF2-40B4-BE49-F238E27FC236}">
                <a16:creationId xmlns:a16="http://schemas.microsoft.com/office/drawing/2014/main" id="{251E5C85-B2F4-46A1-9759-43B3DE76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F6B63"/>
                </a:solidFill>
              </a:defRPr>
            </a:pPr>
            <a:r>
              <a:rPr sz="1650" b="0" i="0">
                <a:solidFill>
                  <a:srgbClr val="6F6B63"/>
                </a:solidFill>
              </a:rPr>
              <a:t>The center changes slowly. The surface changes constantly.</a:t>
            </a:r>
          </a:p>
        </p:txBody>
      </p:sp>
      <p:sp>
        <p:nvSpPr>
          <p:cNvPr id="4" name="exploded-disc-1">
            <a:extLst xmlns:a="http://schemas.openxmlformats.org/drawingml/2006/main">
              <a:ext uri="{FF2B5EF4-FFF2-40B4-BE49-F238E27FC236}">
                <a16:creationId xmlns:a16="http://schemas.microsoft.com/office/drawing/2014/main" id="{38FFF6F7-FBD3-494C-A8ED-DA4DC36B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428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91B9"/>
          </a:solidFill>
          <a:ln xmlns:a="http://schemas.openxmlformats.org/drawingml/2006/main" w="19050">
            <a:solidFill>
              <a:srgbClr val="FBF8F1"/>
            </a:solidFill>
            <a:prstDash val="solid"/>
          </a:ln>
        </p:spPr>
      </p:sp>
      <p:sp>
        <p:nvSpPr>
          <p:cNvPr id="5" name="exploded-disc-2">
            <a:extLst xmlns:a="http://schemas.openxmlformats.org/drawingml/2006/main">
              <a:ext uri="{FF2B5EF4-FFF2-40B4-BE49-F238E27FC236}">
                <a16:creationId xmlns:a16="http://schemas.microsoft.com/office/drawing/2014/main" id="{236EE41F-DF82-45AE-9757-AC5461CB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81275"/>
            <a:ext cx="1352550" cy="3028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62A1"/>
          </a:solidFill>
          <a:ln xmlns:a="http://schemas.openxmlformats.org/drawingml/2006/main" w="19050">
            <a:solidFill>
              <a:srgbClr val="FBF8F1"/>
            </a:solidFill>
            <a:prstDash val="solid"/>
          </a:ln>
        </p:spPr>
      </p:sp>
      <p:sp>
        <p:nvSpPr>
          <p:cNvPr id="6" name="exploded-disc-3">
            <a:extLst xmlns:a="http://schemas.openxmlformats.org/drawingml/2006/main">
              <a:ext uri="{FF2B5EF4-FFF2-40B4-BE49-F238E27FC236}">
                <a16:creationId xmlns:a16="http://schemas.microsoft.com/office/drawing/2014/main" id="{B9AB6D7F-9C3E-4A38-9F7D-0449BA55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1276350" cy="262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8F67"/>
          </a:solidFill>
          <a:ln xmlns:a="http://schemas.openxmlformats.org/drawingml/2006/main" w="19050">
            <a:solidFill>
              <a:srgbClr val="FBF8F1"/>
            </a:solidFill>
            <a:prstDash val="solid"/>
          </a:ln>
        </p:spPr>
      </p:sp>
      <p:sp>
        <p:nvSpPr>
          <p:cNvPr id="7" name="exploded-disc-4">
            <a:extLst xmlns:a="http://schemas.openxmlformats.org/drawingml/2006/main">
              <a:ext uri="{FF2B5EF4-FFF2-40B4-BE49-F238E27FC236}">
                <a16:creationId xmlns:a16="http://schemas.microsoft.com/office/drawing/2014/main" id="{265ACE5D-5AF9-47B2-8855-A3591214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90850"/>
            <a:ext cx="1200150" cy="220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8C2C"/>
          </a:solidFill>
          <a:ln xmlns:a="http://schemas.openxmlformats.org/drawingml/2006/main" w="19050">
            <a:solidFill>
              <a:srgbClr val="FBF8F1"/>
            </a:solidFill>
            <a:prstDash val="solid"/>
          </a:ln>
        </p:spPr>
      </p:sp>
      <p:sp>
        <p:nvSpPr>
          <p:cNvPr id="8" name="exploded-disc-5">
            <a:extLst xmlns:a="http://schemas.openxmlformats.org/drawingml/2006/main">
              <a:ext uri="{FF2B5EF4-FFF2-40B4-BE49-F238E27FC236}">
                <a16:creationId xmlns:a16="http://schemas.microsoft.com/office/drawing/2014/main" id="{737353C3-A0E5-4A7F-BD11-4B6CEA72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00400"/>
            <a:ext cx="1123950" cy="1790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651"/>
          </a:solidFill>
          <a:ln xmlns:a="http://schemas.openxmlformats.org/drawingml/2006/main" w="19050">
            <a:solidFill>
              <a:srgbClr val="FBF8F1"/>
            </a:solidFill>
            <a:prstDash val="solid"/>
          </a:ln>
        </p:spPr>
      </p:sp>
      <p:sp>
        <p:nvSpPr>
          <p:cNvPr id="9" name="exploded-disc-6">
            <a:extLst xmlns:a="http://schemas.openxmlformats.org/drawingml/2006/main">
              <a:ext uri="{FF2B5EF4-FFF2-40B4-BE49-F238E27FC236}">
                <a16:creationId xmlns:a16="http://schemas.microsoft.com/office/drawing/2014/main" id="{9B2E3F31-F536-4843-973A-DE405148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95675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19050">
            <a:solidFill>
              <a:srgbClr val="FBF8F1"/>
            </a:solidFill>
            <a:prstDash val="solid"/>
          </a:ln>
        </p:spPr>
      </p:sp>
      <p:sp>
        <p:nvSpPr>
          <p:cNvPr id="10" name="overview-dot-identity">
            <a:extLst xmlns:a="http://schemas.openxmlformats.org/drawingml/2006/main">
              <a:ext uri="{FF2B5EF4-FFF2-40B4-BE49-F238E27FC236}">
                <a16:creationId xmlns:a16="http://schemas.microsoft.com/office/drawing/2014/main" id="{4D929514-CEE5-4777-85E4-8F0FC63F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0">
            <a:solidFill>
              <a:srgbClr val="17191C"/>
            </a:solidFill>
            <a:prstDash val="solid"/>
          </a:ln>
        </p:spPr>
      </p:sp>
      <p:sp>
        <p:nvSpPr>
          <p:cNvPr id="11" name="overview-number-identity">
            <a:extLst xmlns:a="http://schemas.openxmlformats.org/drawingml/2006/main">
              <a:ext uri="{FF2B5EF4-FFF2-40B4-BE49-F238E27FC236}">
                <a16:creationId xmlns:a16="http://schemas.microsoft.com/office/drawing/2014/main" id="{6BB6F384-C741-4109-9AA7-770E5A3B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336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4EFE5"/>
                </a:solidFill>
              </a:defRPr>
            </a:pPr>
            <a:r>
              <a:rPr sz="900" b="1" i="0">
                <a:solidFill>
                  <a:srgbClr val="F4EFE5"/>
                </a:solidFill>
              </a:rPr>
              <a:t>01</a:t>
            </a:r>
          </a:p>
        </p:txBody>
      </p:sp>
      <p:sp>
        <p:nvSpPr>
          <p:cNvPr id="12" name="overview-name-identity">
            <a:extLst xmlns:a="http://schemas.openxmlformats.org/drawingml/2006/main">
              <a:ext uri="{FF2B5EF4-FFF2-40B4-BE49-F238E27FC236}">
                <a16:creationId xmlns:a16="http://schemas.microsoft.com/office/drawing/2014/main" id="{D791F492-4455-478E-A65E-B1E755B4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191C"/>
                </a:solidFill>
              </a:defRPr>
            </a:pPr>
            <a:r>
              <a:rPr sz="1875" b="1" i="0">
                <a:solidFill>
                  <a:srgbClr val="17191C"/>
                </a:solidFill>
              </a:rPr>
              <a:t>Identity</a:t>
            </a:r>
          </a:p>
        </p:txBody>
      </p:sp>
      <p:sp>
        <p:nvSpPr>
          <p:cNvPr id="13" name="overview-cadence-identity">
            <a:extLst xmlns:a="http://schemas.openxmlformats.org/drawingml/2006/main">
              <a:ext uri="{FF2B5EF4-FFF2-40B4-BE49-F238E27FC236}">
                <a16:creationId xmlns:a16="http://schemas.microsoft.com/office/drawing/2014/main" id="{CF3214D7-2418-48F9-8644-2726D78F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336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7191C"/>
                </a:solidFill>
              </a:defRPr>
            </a:pPr>
            <a:r>
              <a:rPr sz="900" b="1" i="0">
                <a:solidFill>
                  <a:srgbClr val="17191C"/>
                </a:solidFill>
              </a:rPr>
              <a:t>≈ 240 DAYS</a:t>
            </a:r>
          </a:p>
        </p:txBody>
      </p:sp>
      <p:sp>
        <p:nvSpPr>
          <p:cNvPr id="14" name="overview-row-0">
            <a:extLst xmlns:a="http://schemas.openxmlformats.org/drawingml/2006/main">
              <a:ext uri="{FF2B5EF4-FFF2-40B4-BE49-F238E27FC236}">
                <a16:creationId xmlns:a16="http://schemas.microsoft.com/office/drawing/2014/main" id="{EB491786-F409-4051-99E6-4A357F31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15" name="overview-dot-substrate">
            <a:extLst xmlns:a="http://schemas.openxmlformats.org/drawingml/2006/main">
              <a:ext uri="{FF2B5EF4-FFF2-40B4-BE49-F238E27FC236}">
                <a16:creationId xmlns:a16="http://schemas.microsoft.com/office/drawing/2014/main" id="{1AE5DC17-CB60-48CF-8028-A9DBEAE3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651"/>
          </a:solidFill>
          <a:ln xmlns:a="http://schemas.openxmlformats.org/drawingml/2006/main" w="0">
            <a:solidFill>
              <a:srgbClr val="DF7651"/>
            </a:solidFill>
            <a:prstDash val="solid"/>
          </a:ln>
        </p:spPr>
      </p:sp>
      <p:sp>
        <p:nvSpPr>
          <p:cNvPr id="16" name="overview-number-substrate">
            <a:extLst xmlns:a="http://schemas.openxmlformats.org/drawingml/2006/main">
              <a:ext uri="{FF2B5EF4-FFF2-40B4-BE49-F238E27FC236}">
                <a16:creationId xmlns:a16="http://schemas.microsoft.com/office/drawing/2014/main" id="{449992B8-B0A3-4FB3-9520-43269E5C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717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overview-name-substrate">
            <a:extLst xmlns:a="http://schemas.openxmlformats.org/drawingml/2006/main">
              <a:ext uri="{FF2B5EF4-FFF2-40B4-BE49-F238E27FC236}">
                <a16:creationId xmlns:a16="http://schemas.microsoft.com/office/drawing/2014/main" id="{35833C06-5B47-4488-9216-AF54B33B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527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191C"/>
                </a:solidFill>
              </a:defRPr>
            </a:pPr>
            <a:r>
              <a:rPr sz="1875" b="1" i="0">
                <a:solidFill>
                  <a:srgbClr val="17191C"/>
                </a:solidFill>
              </a:rPr>
              <a:t>Substrate</a:t>
            </a:r>
          </a:p>
        </p:txBody>
      </p:sp>
      <p:sp>
        <p:nvSpPr>
          <p:cNvPr id="18" name="overview-cadence-substrate">
            <a:extLst xmlns:a="http://schemas.openxmlformats.org/drawingml/2006/main">
              <a:ext uri="{FF2B5EF4-FFF2-40B4-BE49-F238E27FC236}">
                <a16:creationId xmlns:a16="http://schemas.microsoft.com/office/drawing/2014/main" id="{B64280F3-DA29-41AD-8C5E-CA1B2382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7177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F7651"/>
                </a:solidFill>
              </a:defRPr>
            </a:pPr>
            <a:r>
              <a:rPr sz="900" b="1" i="0">
                <a:solidFill>
                  <a:srgbClr val="DF7651"/>
                </a:solidFill>
              </a:rPr>
              <a:t>COMPOUNDS</a:t>
            </a:r>
          </a:p>
        </p:txBody>
      </p:sp>
      <p:sp>
        <p:nvSpPr>
          <p:cNvPr id="19" name="overview-row-1">
            <a:extLst xmlns:a="http://schemas.openxmlformats.org/drawingml/2006/main">
              <a:ext uri="{FF2B5EF4-FFF2-40B4-BE49-F238E27FC236}">
                <a16:creationId xmlns:a16="http://schemas.microsoft.com/office/drawing/2014/main" id="{6675AAA3-7BCD-4046-9D86-C7EDCA16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09925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20" name="overview-dot-rules">
            <a:extLst xmlns:a="http://schemas.openxmlformats.org/drawingml/2006/main">
              <a:ext uri="{FF2B5EF4-FFF2-40B4-BE49-F238E27FC236}">
                <a16:creationId xmlns:a16="http://schemas.microsoft.com/office/drawing/2014/main" id="{8802127C-33A5-4C72-8B1B-DF0749D2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19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8C2C"/>
          </a:solidFill>
          <a:ln xmlns:a="http://schemas.openxmlformats.org/drawingml/2006/main" w="0">
            <a:solidFill>
              <a:srgbClr val="C58C2C"/>
            </a:solidFill>
            <a:prstDash val="solid"/>
          </a:ln>
        </p:spPr>
      </p:sp>
      <p:sp>
        <p:nvSpPr>
          <p:cNvPr id="21" name="overview-number-rules">
            <a:extLst xmlns:a="http://schemas.openxmlformats.org/drawingml/2006/main">
              <a:ext uri="{FF2B5EF4-FFF2-40B4-BE49-F238E27FC236}">
                <a16:creationId xmlns:a16="http://schemas.microsoft.com/office/drawing/2014/main" id="{AD75DFDD-DC85-4173-991B-B1ECF7F1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09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7191C"/>
                </a:solidFill>
              </a:defRPr>
            </a:pPr>
            <a:r>
              <a:rPr sz="900" b="1" i="0">
                <a:solidFill>
                  <a:srgbClr val="17191C"/>
                </a:solidFill>
              </a:rPr>
              <a:t>03</a:t>
            </a:r>
          </a:p>
        </p:txBody>
      </p:sp>
      <p:sp>
        <p:nvSpPr>
          <p:cNvPr id="22" name="overview-name-rules">
            <a:extLst xmlns:a="http://schemas.openxmlformats.org/drawingml/2006/main">
              <a:ext uri="{FF2B5EF4-FFF2-40B4-BE49-F238E27FC236}">
                <a16:creationId xmlns:a16="http://schemas.microsoft.com/office/drawing/2014/main" id="{8D06A10D-33A7-4B6F-AAD6-5789887D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90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191C"/>
                </a:solidFill>
              </a:defRPr>
            </a:pPr>
            <a:r>
              <a:rPr sz="1875" b="1" i="0">
                <a:solidFill>
                  <a:srgbClr val="17191C"/>
                </a:solidFill>
              </a:rPr>
              <a:t>Rules + Hooks</a:t>
            </a:r>
          </a:p>
        </p:txBody>
      </p:sp>
      <p:sp>
        <p:nvSpPr>
          <p:cNvPr id="23" name="overview-cadence-rules">
            <a:extLst xmlns:a="http://schemas.openxmlformats.org/drawingml/2006/main">
              <a:ext uri="{FF2B5EF4-FFF2-40B4-BE49-F238E27FC236}">
                <a16:creationId xmlns:a16="http://schemas.microsoft.com/office/drawing/2014/main" id="{FF622A88-A7F7-41E0-8710-B034A7B4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099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C58C2C"/>
                </a:solidFill>
              </a:defRPr>
            </a:pPr>
            <a:r>
              <a:rPr sz="900" b="1" i="0">
                <a:solidFill>
                  <a:srgbClr val="C58C2C"/>
                </a:solidFill>
              </a:rPr>
              <a:t>≈ 60 DAYS</a:t>
            </a:r>
          </a:p>
        </p:txBody>
      </p:sp>
      <p:sp>
        <p:nvSpPr>
          <p:cNvPr id="24" name="overview-row-2">
            <a:extLst xmlns:a="http://schemas.openxmlformats.org/drawingml/2006/main">
              <a:ext uri="{FF2B5EF4-FFF2-40B4-BE49-F238E27FC236}">
                <a16:creationId xmlns:a16="http://schemas.microsoft.com/office/drawing/2014/main" id="{5A85A02E-87D0-4B50-A392-763BA8AA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48100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25" name="overview-dot-skills">
            <a:extLst xmlns:a="http://schemas.openxmlformats.org/drawingml/2006/main">
              <a:ext uri="{FF2B5EF4-FFF2-40B4-BE49-F238E27FC236}">
                <a16:creationId xmlns:a16="http://schemas.microsoft.com/office/drawing/2014/main" id="{E8B6148C-B5B5-47B6-B7DF-95038201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57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8F67"/>
          </a:solidFill>
          <a:ln xmlns:a="http://schemas.openxmlformats.org/drawingml/2006/main" w="0">
            <a:solidFill>
              <a:srgbClr val="648F67"/>
            </a:solidFill>
            <a:prstDash val="solid"/>
          </a:ln>
        </p:spPr>
      </p:sp>
      <p:sp>
        <p:nvSpPr>
          <p:cNvPr id="26" name="overview-number-skills">
            <a:extLst xmlns:a="http://schemas.openxmlformats.org/drawingml/2006/main">
              <a:ext uri="{FF2B5EF4-FFF2-40B4-BE49-F238E27FC236}">
                <a16:creationId xmlns:a16="http://schemas.microsoft.com/office/drawing/2014/main" id="{DC462A16-5C4C-4919-80DE-9CF9A34E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48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overview-name-skills">
            <a:extLst xmlns:a="http://schemas.openxmlformats.org/drawingml/2006/main">
              <a:ext uri="{FF2B5EF4-FFF2-40B4-BE49-F238E27FC236}">
                <a16:creationId xmlns:a16="http://schemas.microsoft.com/office/drawing/2014/main" id="{43EC0247-1005-41C1-9FFF-A3AA12FC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290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191C"/>
                </a:solidFill>
              </a:defRPr>
            </a:pPr>
            <a:r>
              <a:rPr sz="1875" b="1" i="0">
                <a:solidFill>
                  <a:srgbClr val="17191C"/>
                </a:solidFill>
              </a:rPr>
              <a:t>Skills</a:t>
            </a:r>
          </a:p>
        </p:txBody>
      </p:sp>
      <p:sp>
        <p:nvSpPr>
          <p:cNvPr id="28" name="overview-cadence-skills">
            <a:extLst xmlns:a="http://schemas.openxmlformats.org/drawingml/2006/main">
              <a:ext uri="{FF2B5EF4-FFF2-40B4-BE49-F238E27FC236}">
                <a16:creationId xmlns:a16="http://schemas.microsoft.com/office/drawing/2014/main" id="{47515BB2-3E16-4FEE-A0B8-755A9F6C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481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8F67"/>
                </a:solidFill>
              </a:defRPr>
            </a:pPr>
            <a:r>
              <a:rPr sz="900" b="1" i="0">
                <a:solidFill>
                  <a:srgbClr val="648F67"/>
                </a:solidFill>
              </a:rPr>
              <a:t>≈ 24 DAYS</a:t>
            </a:r>
          </a:p>
        </p:txBody>
      </p:sp>
      <p:sp>
        <p:nvSpPr>
          <p:cNvPr id="29" name="overview-row-3">
            <a:extLst xmlns:a="http://schemas.openxmlformats.org/drawingml/2006/main">
              <a:ext uri="{FF2B5EF4-FFF2-40B4-BE49-F238E27FC236}">
                <a16:creationId xmlns:a16="http://schemas.microsoft.com/office/drawing/2014/main" id="{95437429-C233-4DA6-8D7A-DB2E3CD8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86275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30" name="overview-dot-agents">
            <a:extLst xmlns:a="http://schemas.openxmlformats.org/drawingml/2006/main">
              <a:ext uri="{FF2B5EF4-FFF2-40B4-BE49-F238E27FC236}">
                <a16:creationId xmlns:a16="http://schemas.microsoft.com/office/drawing/2014/main" id="{ACBDF278-493A-4060-8C4C-1AF83735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95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62A1"/>
          </a:solidFill>
          <a:ln xmlns:a="http://schemas.openxmlformats.org/drawingml/2006/main" w="0">
            <a:solidFill>
              <a:srgbClr val="8A62A1"/>
            </a:solidFill>
            <a:prstDash val="solid"/>
          </a:ln>
        </p:spPr>
      </p:sp>
      <p:sp>
        <p:nvSpPr>
          <p:cNvPr id="31" name="overview-number-agents">
            <a:extLst xmlns:a="http://schemas.openxmlformats.org/drawingml/2006/main">
              <a:ext uri="{FF2B5EF4-FFF2-40B4-BE49-F238E27FC236}">
                <a16:creationId xmlns:a16="http://schemas.microsoft.com/office/drawing/2014/main" id="{CAB589D8-6283-4152-9B07-2FF6E9D2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86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2" name="overview-name-agents">
            <a:extLst xmlns:a="http://schemas.openxmlformats.org/drawingml/2006/main">
              <a:ext uri="{FF2B5EF4-FFF2-40B4-BE49-F238E27FC236}">
                <a16:creationId xmlns:a16="http://schemas.microsoft.com/office/drawing/2014/main" id="{CABAECE2-2B42-4AD4-AD12-994EF6DE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67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191C"/>
                </a:solidFill>
              </a:defRPr>
            </a:pPr>
            <a:r>
              <a:rPr sz="1875" b="1" i="0">
                <a:solidFill>
                  <a:srgbClr val="17191C"/>
                </a:solidFill>
              </a:rPr>
              <a:t>Agents</a:t>
            </a:r>
          </a:p>
        </p:txBody>
      </p:sp>
      <p:sp>
        <p:nvSpPr>
          <p:cNvPr id="33" name="overview-cadence-agents">
            <a:extLst xmlns:a="http://schemas.openxmlformats.org/drawingml/2006/main">
              <a:ext uri="{FF2B5EF4-FFF2-40B4-BE49-F238E27FC236}">
                <a16:creationId xmlns:a16="http://schemas.microsoft.com/office/drawing/2014/main" id="{0365C2C8-7BAE-485D-A18C-22CCDA26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863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A62A1"/>
                </a:solidFill>
              </a:defRPr>
            </a:pPr>
            <a:r>
              <a:rPr sz="900" b="1" i="0">
                <a:solidFill>
                  <a:srgbClr val="8A62A1"/>
                </a:solidFill>
              </a:rPr>
              <a:t>≈ 12 DAYS</a:t>
            </a:r>
          </a:p>
        </p:txBody>
      </p:sp>
      <p:sp>
        <p:nvSpPr>
          <p:cNvPr id="34" name="overview-row-4">
            <a:extLst xmlns:a="http://schemas.openxmlformats.org/drawingml/2006/main">
              <a:ext uri="{FF2B5EF4-FFF2-40B4-BE49-F238E27FC236}">
                <a16:creationId xmlns:a16="http://schemas.microsoft.com/office/drawing/2014/main" id="{1ECB248D-AE9B-435E-9030-D2A2C5E2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24450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0C5"/>
            </a:solidFill>
            <a:prstDash val="solid"/>
          </a:ln>
        </p:spPr>
      </p:sp>
      <p:sp>
        <p:nvSpPr>
          <p:cNvPr id="35" name="overview-dot-tools">
            <a:extLst xmlns:a="http://schemas.openxmlformats.org/drawingml/2006/main">
              <a:ext uri="{FF2B5EF4-FFF2-40B4-BE49-F238E27FC236}">
                <a16:creationId xmlns:a16="http://schemas.microsoft.com/office/drawing/2014/main" id="{89D2C28C-0699-45F8-A44B-AF16F6BE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34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91B9"/>
          </a:solidFill>
          <a:ln xmlns:a="http://schemas.openxmlformats.org/drawingml/2006/main" w="0">
            <a:solidFill>
              <a:srgbClr val="4B91B9"/>
            </a:solidFill>
            <a:prstDash val="solid"/>
          </a:ln>
        </p:spPr>
      </p:sp>
      <p:sp>
        <p:nvSpPr>
          <p:cNvPr id="36" name="overview-number-tools">
            <a:extLst xmlns:a="http://schemas.openxmlformats.org/drawingml/2006/main">
              <a:ext uri="{FF2B5EF4-FFF2-40B4-BE49-F238E27FC236}">
                <a16:creationId xmlns:a16="http://schemas.microsoft.com/office/drawing/2014/main" id="{4A8707CC-B95E-4B93-B797-3899F0CA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244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7" name="overview-name-tools">
            <a:extLst xmlns:a="http://schemas.openxmlformats.org/drawingml/2006/main">
              <a:ext uri="{FF2B5EF4-FFF2-40B4-BE49-F238E27FC236}">
                <a16:creationId xmlns:a16="http://schemas.microsoft.com/office/drawing/2014/main" id="{72102F33-DAB3-4E60-B953-82681D89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054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191C"/>
                </a:solidFill>
              </a:defRPr>
            </a:pPr>
            <a:r>
              <a:rPr sz="1875" b="1" i="0">
                <a:solidFill>
                  <a:srgbClr val="17191C"/>
                </a:solidFill>
              </a:rPr>
              <a:t>Tools + Data</a:t>
            </a:r>
          </a:p>
        </p:txBody>
      </p:sp>
      <p:sp>
        <p:nvSpPr>
          <p:cNvPr id="38" name="overview-cadence-tools">
            <a:extLst xmlns:a="http://schemas.openxmlformats.org/drawingml/2006/main">
              <a:ext uri="{FF2B5EF4-FFF2-40B4-BE49-F238E27FC236}">
                <a16:creationId xmlns:a16="http://schemas.microsoft.com/office/drawing/2014/main" id="{D9B8D334-CA01-471A-B505-69363E3F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2447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B91B9"/>
                </a:solidFill>
              </a:defRPr>
            </a:pPr>
            <a:r>
              <a:rPr sz="900" b="1" i="0">
                <a:solidFill>
                  <a:srgbClr val="4B91B9"/>
                </a:solidFill>
              </a:rPr>
              <a:t>HOURS → DAYS</a:t>
            </a:r>
          </a:p>
        </p:txBody>
      </p:sp>
      <p:sp>
        <p:nvSpPr>
          <p:cNvPr id="39" name="footer-2">
            <a:extLst xmlns:a="http://schemas.openxmlformats.org/drawingml/2006/main">
              <a:ext uri="{FF2B5EF4-FFF2-40B4-BE49-F238E27FC236}">
                <a16:creationId xmlns:a16="http://schemas.microsoft.com/office/drawing/2014/main" id="{C43EF3C4-0282-4305-A382-1E65E82F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6B63"/>
                </a:solidFill>
              </a:defRPr>
            </a:pPr>
            <a:r>
              <a:rPr sz="825" b="1" i="0">
                <a:solidFill>
                  <a:srgbClr val="6F6B63"/>
                </a:solidFill>
              </a:rPr>
              <a:t>THE AGENTIC OS FIELD GUIDE</a:t>
            </a:r>
          </a:p>
        </p:txBody>
      </p:sp>
      <p:sp>
        <p:nvSpPr>
          <p:cNvPr id="40" name="page-2">
            <a:extLst xmlns:a="http://schemas.openxmlformats.org/drawingml/2006/main">
              <a:ext uri="{FF2B5EF4-FFF2-40B4-BE49-F238E27FC236}">
                <a16:creationId xmlns:a16="http://schemas.microsoft.com/office/drawing/2014/main" id="{0F9BCCD6-1869-400F-9A60-045B8348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6B63"/>
                </a:solidFill>
              </a:defRPr>
            </a:pPr>
            <a:r>
              <a:rPr sz="825" b="1" i="0">
                <a:solidFill>
                  <a:srgbClr val="6F6B6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064147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identity">
            <a:extLst xmlns:a="http://schemas.openxmlformats.org/drawingml/2006/main">
              <a:ext uri="{FF2B5EF4-FFF2-40B4-BE49-F238E27FC236}">
                <a16:creationId xmlns:a16="http://schemas.microsoft.com/office/drawing/2014/main" id="{6AE1FF63-D847-4AFF-B0E8-04D4BAA9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191C"/>
                </a:solidFill>
              </a:defRPr>
            </a:pPr>
            <a:r>
              <a:rPr sz="1050" b="1" i="0">
                <a:solidFill>
                  <a:srgbClr val="17191C"/>
                </a:solidFill>
              </a:rPr>
              <a:t>01  /  IDENTITY</a:t>
            </a:r>
          </a:p>
        </p:txBody>
      </p:sp>
      <p:sp>
        <p:nvSpPr>
          <p:cNvPr id="2" name="headline-identity">
            <a:extLst xmlns:a="http://schemas.openxmlformats.org/drawingml/2006/main">
              <a:ext uri="{FF2B5EF4-FFF2-40B4-BE49-F238E27FC236}">
                <a16:creationId xmlns:a16="http://schemas.microsoft.com/office/drawing/2014/main" id="{1D396C9C-70BD-4211-BE85-2C4ECBAD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17191C"/>
                </a:solidFill>
              </a:defRPr>
            </a:pPr>
            <a:r>
              <a:rPr sz="3675" b="1" i="0">
                <a:solidFill>
                  <a:srgbClr val="17191C"/>
                </a:solidFill>
              </a:rPr>
              <a:t>Start with a point of view the system can defend.</a:t>
            </a:r>
          </a:p>
        </p:txBody>
      </p:sp>
      <p:sp>
        <p:nvSpPr>
          <p:cNvPr id="3" name="description-identity">
            <a:extLst xmlns:a="http://schemas.openxmlformats.org/drawingml/2006/main">
              <a:ext uri="{FF2B5EF4-FFF2-40B4-BE49-F238E27FC236}">
                <a16:creationId xmlns:a16="http://schemas.microsoft.com/office/drawing/2014/main" id="{16484C34-9133-4A16-93B3-D99D0958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676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F6B63"/>
                </a:solidFill>
              </a:defRPr>
            </a:pPr>
            <a:r>
              <a:rPr sz="1575" b="0" i="0">
                <a:solidFill>
                  <a:srgbClr val="6F6B63"/>
                </a:solidFill>
              </a:rPr>
              <a:t>Identity defines who the OS serves, what it optimizes for, how it reasons, and where deeper context lives.</a:t>
            </a:r>
          </a:p>
        </p:txBody>
      </p:sp>
      <p:sp>
        <p:nvSpPr>
          <p:cNvPr id="4" name="rule-identity">
            <a:extLst xmlns:a="http://schemas.openxmlformats.org/drawingml/2006/main">
              <a:ext uri="{FF2B5EF4-FFF2-40B4-BE49-F238E27FC236}">
                <a16:creationId xmlns:a16="http://schemas.microsoft.com/office/drawing/2014/main" id="{EABB0450-6AD3-48E5-8C51-D85B5D90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7191C"/>
            </a:solidFill>
            <a:prstDash val="solid"/>
          </a:ln>
        </p:spPr>
      </p:sp>
      <p:sp>
        <p:nvSpPr>
          <p:cNvPr id="5" name="owns-label-identity">
            <a:extLst xmlns:a="http://schemas.openxmlformats.org/drawingml/2006/main">
              <a:ext uri="{FF2B5EF4-FFF2-40B4-BE49-F238E27FC236}">
                <a16:creationId xmlns:a16="http://schemas.microsoft.com/office/drawing/2014/main" id="{82787583-75BA-4529-AF7D-4B8132F5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F6B63"/>
                </a:solidFill>
              </a:defRPr>
            </a:pPr>
            <a:r>
              <a:rPr sz="975" b="1" i="0">
                <a:solidFill>
                  <a:srgbClr val="6F6B63"/>
                </a:solidFill>
              </a:rPr>
              <a:t>WHAT THIS LAYER OWNS</a:t>
            </a:r>
          </a:p>
        </p:txBody>
      </p:sp>
      <p:sp>
        <p:nvSpPr>
          <p:cNvPr id="6" name="owns-identity">
            <a:extLst xmlns:a="http://schemas.openxmlformats.org/drawingml/2006/main">
              <a:ext uri="{FF2B5EF4-FFF2-40B4-BE49-F238E27FC236}">
                <a16:creationId xmlns:a16="http://schemas.microsoft.com/office/drawing/2014/main" id="{F76E9F03-120A-4630-BB83-C5F35D06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676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7191C"/>
                </a:solidFill>
              </a:defRPr>
            </a:pPr>
            <a:r>
              <a:rPr sz="2175" b="1" i="0">
                <a:solidFill>
                  <a:srgbClr val="17191C"/>
                </a:solidFill>
              </a:rPr>
              <a:t>Purpose · audience · principles · boundaries · context pointers</a:t>
            </a:r>
          </a:p>
        </p:txBody>
      </p:sp>
      <p:sp>
        <p:nvSpPr>
          <p:cNvPr id="7" name="artifacts-label-identity">
            <a:extLst xmlns:a="http://schemas.openxmlformats.org/drawingml/2006/main">
              <a:ext uri="{FF2B5EF4-FFF2-40B4-BE49-F238E27FC236}">
                <a16:creationId xmlns:a16="http://schemas.microsoft.com/office/drawing/2014/main" id="{3AF008B7-3FA9-4D23-8D5D-8E25B288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B63"/>
                </a:solidFill>
              </a:defRPr>
            </a:pPr>
            <a:r>
              <a:rPr sz="900" b="1" i="0">
                <a:solidFill>
                  <a:srgbClr val="6F6B63"/>
                </a:solidFill>
              </a:rPr>
              <a:t>CANONICAL ARTIFACTS</a:t>
            </a:r>
          </a:p>
        </p:txBody>
      </p:sp>
      <p:sp>
        <p:nvSpPr>
          <p:cNvPr id="8" name="artifacts-identity">
            <a:extLst xmlns:a="http://schemas.openxmlformats.org/drawingml/2006/main">
              <a:ext uri="{FF2B5EF4-FFF2-40B4-BE49-F238E27FC236}">
                <a16:creationId xmlns:a16="http://schemas.microsoft.com/office/drawing/2014/main" id="{0231E4DE-61C6-4144-9680-54F5E40C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191C"/>
                </a:solidFill>
              </a:defRPr>
            </a:pPr>
            <a:r>
              <a:rPr sz="1350" b="1" i="0">
                <a:solidFill>
                  <a:srgbClr val="17191C"/>
                </a:solidFill>
              </a:rPr>
              <a:t>identity.md   principles.md   context-map.md</a:t>
            </a:r>
          </a:p>
        </p:txBody>
      </p:sp>
      <p:sp>
        <p:nvSpPr>
          <p:cNvPr id="9" name="layer-ring-identity">
            <a:extLst xmlns:a="http://schemas.openxmlformats.org/drawingml/2006/main">
              <a:ext uri="{FF2B5EF4-FFF2-40B4-BE49-F238E27FC236}">
                <a16:creationId xmlns:a16="http://schemas.microsoft.com/office/drawing/2014/main" id="{839C010E-C677-4AF9-8561-7516E66A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66800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7191C"/>
            </a:solidFill>
            <a:prstDash val="solid"/>
          </a:ln>
        </p:spPr>
      </p:sp>
      <p:sp>
        <p:nvSpPr>
          <p:cNvPr id="10" name="layer-orb-identity">
            <a:extLst xmlns:a="http://schemas.openxmlformats.org/drawingml/2006/main">
              <a:ext uri="{FF2B5EF4-FFF2-40B4-BE49-F238E27FC236}">
                <a16:creationId xmlns:a16="http://schemas.microsoft.com/office/drawing/2014/main" id="{35B96EDE-E900-40F1-8951-AC9A814B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3525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0">
            <a:solidFill>
              <a:srgbClr val="17191C"/>
            </a:solidFill>
            <a:prstDash val="solid"/>
          </a:ln>
        </p:spPr>
      </p:sp>
      <p:sp>
        <p:nvSpPr>
          <p:cNvPr id="11" name="layer-number-identity">
            <a:extLst xmlns:a="http://schemas.openxmlformats.org/drawingml/2006/main">
              <a:ext uri="{FF2B5EF4-FFF2-40B4-BE49-F238E27FC236}">
                <a16:creationId xmlns:a16="http://schemas.microsoft.com/office/drawing/2014/main" id="{B1AC2E13-C0E7-47EB-9E4C-AC88A783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209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200" b="1" i="0">
                <a:solidFill>
                  <a:srgbClr val="F4EFE5"/>
                </a:solidFill>
              </a:defRPr>
            </a:pPr>
            <a:r>
              <a:rPr sz="7200" b="1" i="0">
                <a:solidFill>
                  <a:srgbClr val="F4EFE5"/>
                </a:solidFill>
              </a:rPr>
              <a:t>01</a:t>
            </a:r>
          </a:p>
        </p:txBody>
      </p:sp>
      <p:sp>
        <p:nvSpPr>
          <p:cNvPr id="12" name="layer-name-identity">
            <a:extLst xmlns:a="http://schemas.openxmlformats.org/drawingml/2006/main">
              <a:ext uri="{FF2B5EF4-FFF2-40B4-BE49-F238E27FC236}">
                <a16:creationId xmlns:a16="http://schemas.microsoft.com/office/drawing/2014/main" id="{37BC5283-D0D4-47FE-89C4-1177FC87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432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4EFE5"/>
                </a:solidFill>
              </a:defRPr>
            </a:pPr>
            <a:r>
              <a:rPr sz="2100" b="1" i="0">
                <a:solidFill>
                  <a:srgbClr val="F4EFE5"/>
                </a:solidFill>
              </a:rPr>
              <a:t>Identity</a:t>
            </a:r>
          </a:p>
        </p:txBody>
      </p:sp>
      <p:sp>
        <p:nvSpPr>
          <p:cNvPr id="13" name="cadence-label-identity">
            <a:extLst xmlns:a="http://schemas.openxmlformats.org/drawingml/2006/main">
              <a:ext uri="{FF2B5EF4-FFF2-40B4-BE49-F238E27FC236}">
                <a16:creationId xmlns:a16="http://schemas.microsoft.com/office/drawing/2014/main" id="{3714B03F-E4B2-4D31-86A3-D02E740E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29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F6B63"/>
                </a:solidFill>
              </a:defRPr>
            </a:pPr>
            <a:r>
              <a:rPr sz="900" b="1" i="0">
                <a:solidFill>
                  <a:srgbClr val="6F6B63"/>
                </a:solidFill>
              </a:rPr>
              <a:t>CONTEXT HALF-LIFE</a:t>
            </a:r>
          </a:p>
        </p:txBody>
      </p:sp>
      <p:sp>
        <p:nvSpPr>
          <p:cNvPr id="14" name="cadence-identity">
            <a:extLst xmlns:a="http://schemas.openxmlformats.org/drawingml/2006/main">
              <a:ext uri="{FF2B5EF4-FFF2-40B4-BE49-F238E27FC236}">
                <a16:creationId xmlns:a16="http://schemas.microsoft.com/office/drawing/2014/main" id="{043B5E78-D22E-4EE7-BCF2-CB603F2F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33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191C"/>
                </a:solidFill>
              </a:defRPr>
            </a:pPr>
            <a:r>
              <a:rPr sz="1800" b="1" i="0">
                <a:solidFill>
                  <a:srgbClr val="17191C"/>
                </a:solidFill>
              </a:rPr>
              <a:t>≈ 240 DAYS</a:t>
            </a:r>
          </a:p>
        </p:txBody>
      </p:sp>
      <p:sp>
        <p:nvSpPr>
          <p:cNvPr id="15" name="example-band-identity">
            <a:extLst xmlns:a="http://schemas.openxmlformats.org/drawingml/2006/main">
              <a:ext uri="{FF2B5EF4-FFF2-40B4-BE49-F238E27FC236}">
                <a16:creationId xmlns:a16="http://schemas.microsoft.com/office/drawing/2014/main" id="{79EF0C90-310E-416B-86FC-05A96DA7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215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0">
            <a:solidFill>
              <a:srgbClr val="17191C"/>
            </a:solidFill>
            <a:prstDash val="solid"/>
          </a:ln>
        </p:spPr>
      </p:sp>
      <p:sp>
        <p:nvSpPr>
          <p:cNvPr id="16" name="example-label-identity">
            <a:extLst xmlns:a="http://schemas.openxmlformats.org/drawingml/2006/main">
              <a:ext uri="{FF2B5EF4-FFF2-40B4-BE49-F238E27FC236}">
                <a16:creationId xmlns:a16="http://schemas.microsoft.com/office/drawing/2014/main" id="{8CCA4B44-2CFC-41C7-9752-F103A358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4EFE5"/>
                </a:solidFill>
              </a:defRPr>
            </a:pPr>
            <a:r>
              <a:rPr sz="900" b="1" i="0">
                <a:solidFill>
                  <a:srgbClr val="F4EFE5"/>
                </a:solidFill>
              </a:rPr>
              <a:t>IN PRACTICE</a:t>
            </a:r>
          </a:p>
        </p:txBody>
      </p:sp>
      <p:sp>
        <p:nvSpPr>
          <p:cNvPr id="17" name="example-identity">
            <a:extLst xmlns:a="http://schemas.openxmlformats.org/drawingml/2006/main">
              <a:ext uri="{FF2B5EF4-FFF2-40B4-BE49-F238E27FC236}">
                <a16:creationId xmlns:a16="http://schemas.microsoft.com/office/drawing/2014/main" id="{C5CBB2BC-77DD-499C-A48F-3AC59465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57875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EFE5"/>
                </a:solidFill>
              </a:defRPr>
            </a:pPr>
            <a:r>
              <a:rPr sz="1350" b="1" i="0">
                <a:solidFill>
                  <a:srgbClr val="F4EFE5"/>
                </a:solidFill>
              </a:rPr>
              <a:t>“You are a fractional CFO for a bootstrapped SaaS. Optimize for cash and clarity.”</a:t>
            </a:r>
          </a:p>
        </p:txBody>
      </p:sp>
      <p:sp>
        <p:nvSpPr>
          <p:cNvPr id="18" name="footer-3">
            <a:extLst xmlns:a="http://schemas.openxmlformats.org/drawingml/2006/main">
              <a:ext uri="{FF2B5EF4-FFF2-40B4-BE49-F238E27FC236}">
                <a16:creationId xmlns:a16="http://schemas.microsoft.com/office/drawing/2014/main" id="{958B23F7-570E-41CF-8C6A-B2FD1189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6B63"/>
                </a:solidFill>
              </a:defRPr>
            </a:pPr>
            <a:r>
              <a:rPr sz="825" b="1" i="0">
                <a:solidFill>
                  <a:srgbClr val="6F6B63"/>
                </a:solidFill>
              </a:rPr>
              <a:t>THE AGENTIC OS FIELD GUIDE</a:t>
            </a:r>
          </a:p>
        </p:txBody>
      </p:sp>
      <p:sp>
        <p:nvSpPr>
          <p:cNvPr id="19" name="page-3">
            <a:extLst xmlns:a="http://schemas.openxmlformats.org/drawingml/2006/main">
              <a:ext uri="{FF2B5EF4-FFF2-40B4-BE49-F238E27FC236}">
                <a16:creationId xmlns:a16="http://schemas.microsoft.com/office/drawing/2014/main" id="{929F65A4-AF71-42E1-8303-F0ED83AF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6B63"/>
                </a:solidFill>
              </a:defRPr>
            </a:pPr>
            <a:r>
              <a:rPr sz="825" b="1" i="0">
                <a:solidFill>
                  <a:srgbClr val="6F6B6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5098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substrate">
            <a:extLst xmlns:a="http://schemas.openxmlformats.org/drawingml/2006/main">
              <a:ext uri="{FF2B5EF4-FFF2-40B4-BE49-F238E27FC236}">
                <a16:creationId xmlns:a16="http://schemas.microsoft.com/office/drawing/2014/main" id="{27DF83CF-3C2C-4DEB-A267-FDBD2777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F7651"/>
                </a:solidFill>
              </a:defRPr>
            </a:pPr>
            <a:r>
              <a:rPr sz="1050" b="1" i="0">
                <a:solidFill>
                  <a:srgbClr val="DF7651"/>
                </a:solidFill>
              </a:rPr>
              <a:t>02  /  SUBSTRATE</a:t>
            </a:r>
          </a:p>
        </p:txBody>
      </p:sp>
      <p:sp>
        <p:nvSpPr>
          <p:cNvPr id="2" name="headline-substrate">
            <a:extLst xmlns:a="http://schemas.openxmlformats.org/drawingml/2006/main">
              <a:ext uri="{FF2B5EF4-FFF2-40B4-BE49-F238E27FC236}">
                <a16:creationId xmlns:a16="http://schemas.microsoft.com/office/drawing/2014/main" id="{AC6396A6-548D-4414-B1F4-9DB6C525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17191C"/>
                </a:solidFill>
              </a:defRPr>
            </a:pPr>
            <a:r>
              <a:rPr sz="3675" b="1" i="0">
                <a:solidFill>
                  <a:srgbClr val="17191C"/>
                </a:solidFill>
              </a:rPr>
              <a:t>Give the OS memory before you give it more intelligence.</a:t>
            </a:r>
          </a:p>
        </p:txBody>
      </p:sp>
      <p:sp>
        <p:nvSpPr>
          <p:cNvPr id="3" name="description-substrate">
            <a:extLst xmlns:a="http://schemas.openxmlformats.org/drawingml/2006/main">
              <a:ext uri="{FF2B5EF4-FFF2-40B4-BE49-F238E27FC236}">
                <a16:creationId xmlns:a16="http://schemas.microsoft.com/office/drawing/2014/main" id="{3801E29F-3109-473D-AA2A-65319E3B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676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F6B63"/>
                </a:solidFill>
              </a:defRPr>
            </a:pPr>
            <a:r>
              <a:rPr sz="1575" b="0" i="0">
                <a:solidFill>
                  <a:srgbClr val="6F6B63"/>
                </a:solidFill>
              </a:rPr>
              <a:t>The substrate is durable evidence: raw inputs, decisions, working memory, logs, and the runtime every other layer can draw from.</a:t>
            </a:r>
          </a:p>
        </p:txBody>
      </p:sp>
      <p:sp>
        <p:nvSpPr>
          <p:cNvPr id="4" name="rule-substrate">
            <a:extLst xmlns:a="http://schemas.openxmlformats.org/drawingml/2006/main">
              <a:ext uri="{FF2B5EF4-FFF2-40B4-BE49-F238E27FC236}">
                <a16:creationId xmlns:a16="http://schemas.microsoft.com/office/drawing/2014/main" id="{58D01F8A-1A75-45E3-B55B-3E2BD88B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F7651"/>
            </a:solidFill>
            <a:prstDash val="solid"/>
          </a:ln>
        </p:spPr>
      </p:sp>
      <p:sp>
        <p:nvSpPr>
          <p:cNvPr id="5" name="owns-label-substrate">
            <a:extLst xmlns:a="http://schemas.openxmlformats.org/drawingml/2006/main">
              <a:ext uri="{FF2B5EF4-FFF2-40B4-BE49-F238E27FC236}">
                <a16:creationId xmlns:a16="http://schemas.microsoft.com/office/drawing/2014/main" id="{7085B785-1CEA-4BEE-A3A8-5D8FD65A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F6B63"/>
                </a:solidFill>
              </a:defRPr>
            </a:pPr>
            <a:r>
              <a:rPr sz="975" b="1" i="0">
                <a:solidFill>
                  <a:srgbClr val="6F6B63"/>
                </a:solidFill>
              </a:rPr>
              <a:t>WHAT THIS LAYER OWNS</a:t>
            </a:r>
          </a:p>
        </p:txBody>
      </p:sp>
      <p:sp>
        <p:nvSpPr>
          <p:cNvPr id="6" name="owns-substrate">
            <a:extLst xmlns:a="http://schemas.openxmlformats.org/drawingml/2006/main">
              <a:ext uri="{FF2B5EF4-FFF2-40B4-BE49-F238E27FC236}">
                <a16:creationId xmlns:a16="http://schemas.microsoft.com/office/drawing/2014/main" id="{97C49D81-7787-4FE2-8E0A-86FF0713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676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7191C"/>
                </a:solidFill>
              </a:defRPr>
            </a:pPr>
            <a:r>
              <a:rPr sz="2175" b="1" i="0">
                <a:solidFill>
                  <a:srgbClr val="17191C"/>
                </a:solidFill>
              </a:rPr>
              <a:t>Evidence · decisions · logs · working memory · runtime</a:t>
            </a:r>
          </a:p>
        </p:txBody>
      </p:sp>
      <p:sp>
        <p:nvSpPr>
          <p:cNvPr id="7" name="artifacts-label-substrate">
            <a:extLst xmlns:a="http://schemas.openxmlformats.org/drawingml/2006/main">
              <a:ext uri="{FF2B5EF4-FFF2-40B4-BE49-F238E27FC236}">
                <a16:creationId xmlns:a16="http://schemas.microsoft.com/office/drawing/2014/main" id="{08991D62-29F4-4924-B0D8-E88E69F3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B63"/>
                </a:solidFill>
              </a:defRPr>
            </a:pPr>
            <a:r>
              <a:rPr sz="900" b="1" i="0">
                <a:solidFill>
                  <a:srgbClr val="6F6B63"/>
                </a:solidFill>
              </a:rPr>
              <a:t>CANONICAL ARTIFACTS</a:t>
            </a:r>
          </a:p>
        </p:txBody>
      </p:sp>
      <p:sp>
        <p:nvSpPr>
          <p:cNvPr id="8" name="artifacts-substrate">
            <a:extLst xmlns:a="http://schemas.openxmlformats.org/drawingml/2006/main">
              <a:ext uri="{FF2B5EF4-FFF2-40B4-BE49-F238E27FC236}">
                <a16:creationId xmlns:a16="http://schemas.microsoft.com/office/drawing/2014/main" id="{18517E07-0189-4667-B0BE-C6F1AD30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F7651"/>
                </a:solidFill>
              </a:defRPr>
            </a:pPr>
            <a:r>
              <a:rPr sz="1350" b="1" i="0">
                <a:solidFill>
                  <a:srgbClr val="DF7651"/>
                </a:solidFill>
              </a:rPr>
              <a:t>wiki/   memory/   decisions.log   runtime</a:t>
            </a:r>
          </a:p>
        </p:txBody>
      </p:sp>
      <p:sp>
        <p:nvSpPr>
          <p:cNvPr id="9" name="layer-ring-substrate">
            <a:extLst xmlns:a="http://schemas.openxmlformats.org/drawingml/2006/main">
              <a:ext uri="{FF2B5EF4-FFF2-40B4-BE49-F238E27FC236}">
                <a16:creationId xmlns:a16="http://schemas.microsoft.com/office/drawing/2014/main" id="{7628FC3E-3833-4B7D-B161-DC03EDB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66800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F7651"/>
            </a:solidFill>
            <a:prstDash val="solid"/>
          </a:ln>
        </p:spPr>
      </p:sp>
      <p:sp>
        <p:nvSpPr>
          <p:cNvPr id="10" name="layer-orb-substrate">
            <a:extLst xmlns:a="http://schemas.openxmlformats.org/drawingml/2006/main">
              <a:ext uri="{FF2B5EF4-FFF2-40B4-BE49-F238E27FC236}">
                <a16:creationId xmlns:a16="http://schemas.microsoft.com/office/drawing/2014/main" id="{B362B7D4-12E8-4B9A-8953-9BF058B1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3525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651"/>
          </a:solidFill>
          <a:ln xmlns:a="http://schemas.openxmlformats.org/drawingml/2006/main" w="0">
            <a:solidFill>
              <a:srgbClr val="DF7651"/>
            </a:solidFill>
            <a:prstDash val="solid"/>
          </a:ln>
        </p:spPr>
      </p:sp>
      <p:sp>
        <p:nvSpPr>
          <p:cNvPr id="11" name="layer-number-substrate">
            <a:extLst xmlns:a="http://schemas.openxmlformats.org/drawingml/2006/main">
              <a:ext uri="{FF2B5EF4-FFF2-40B4-BE49-F238E27FC236}">
                <a16:creationId xmlns:a16="http://schemas.microsoft.com/office/drawing/2014/main" id="{92A5B18B-C211-455C-80E5-C0A2D7F1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209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200" b="1" i="0">
                <a:solidFill>
                  <a:srgbClr val="FFFFFF"/>
                </a:solidFill>
              </a:defRPr>
            </a:pPr>
            <a:r>
              <a:rPr sz="7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layer-name-substrate">
            <a:extLst xmlns:a="http://schemas.openxmlformats.org/drawingml/2006/main">
              <a:ext uri="{FF2B5EF4-FFF2-40B4-BE49-F238E27FC236}">
                <a16:creationId xmlns:a16="http://schemas.microsoft.com/office/drawing/2014/main" id="{05983A14-449B-4DEE-8DE8-698C751B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432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Substrate</a:t>
            </a:r>
          </a:p>
        </p:txBody>
      </p:sp>
      <p:sp>
        <p:nvSpPr>
          <p:cNvPr id="13" name="cadence-label-substrate">
            <a:extLst xmlns:a="http://schemas.openxmlformats.org/drawingml/2006/main">
              <a:ext uri="{FF2B5EF4-FFF2-40B4-BE49-F238E27FC236}">
                <a16:creationId xmlns:a16="http://schemas.microsoft.com/office/drawing/2014/main" id="{1484F44C-586B-4AFB-86F9-30A2784E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29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F6B63"/>
                </a:solidFill>
              </a:defRPr>
            </a:pPr>
            <a:r>
              <a:rPr sz="900" b="1" i="0">
                <a:solidFill>
                  <a:srgbClr val="6F6B63"/>
                </a:solidFill>
              </a:rPr>
              <a:t>CONTEXT HALF-LIFE</a:t>
            </a:r>
          </a:p>
        </p:txBody>
      </p:sp>
      <p:sp>
        <p:nvSpPr>
          <p:cNvPr id="14" name="cadence-substrate">
            <a:extLst xmlns:a="http://schemas.openxmlformats.org/drawingml/2006/main">
              <a:ext uri="{FF2B5EF4-FFF2-40B4-BE49-F238E27FC236}">
                <a16:creationId xmlns:a16="http://schemas.microsoft.com/office/drawing/2014/main" id="{74ACCC36-E5EA-43B8-836F-181398B6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33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DF7651"/>
                </a:solidFill>
              </a:defRPr>
            </a:pPr>
            <a:r>
              <a:rPr sz="1800" b="1" i="0">
                <a:solidFill>
                  <a:srgbClr val="DF7651"/>
                </a:solidFill>
              </a:rPr>
              <a:t>COMPOUNDS</a:t>
            </a:r>
          </a:p>
        </p:txBody>
      </p:sp>
      <p:sp>
        <p:nvSpPr>
          <p:cNvPr id="15" name="example-band-substrate">
            <a:extLst xmlns:a="http://schemas.openxmlformats.org/drawingml/2006/main">
              <a:ext uri="{FF2B5EF4-FFF2-40B4-BE49-F238E27FC236}">
                <a16:creationId xmlns:a16="http://schemas.microsoft.com/office/drawing/2014/main" id="{94EC100D-C9AA-4CE7-BF0C-790FD42D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215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7651"/>
          </a:solidFill>
          <a:ln xmlns:a="http://schemas.openxmlformats.org/drawingml/2006/main" w="0">
            <a:solidFill>
              <a:srgbClr val="DF7651"/>
            </a:solidFill>
            <a:prstDash val="solid"/>
          </a:ln>
        </p:spPr>
      </p:sp>
      <p:sp>
        <p:nvSpPr>
          <p:cNvPr id="16" name="example-label-substrate">
            <a:extLst xmlns:a="http://schemas.openxmlformats.org/drawingml/2006/main">
              <a:ext uri="{FF2B5EF4-FFF2-40B4-BE49-F238E27FC236}">
                <a16:creationId xmlns:a16="http://schemas.microsoft.com/office/drawing/2014/main" id="{13643FC4-5435-49AF-BB76-07300A6B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IN PRACTICE</a:t>
            </a:r>
          </a:p>
        </p:txBody>
      </p:sp>
      <p:sp>
        <p:nvSpPr>
          <p:cNvPr id="17" name="example-substrate">
            <a:extLst xmlns:a="http://schemas.openxmlformats.org/drawingml/2006/main">
              <a:ext uri="{FF2B5EF4-FFF2-40B4-BE49-F238E27FC236}">
                <a16:creationId xmlns:a16="http://schemas.microsoft.com/office/drawing/2014/main" id="{0202370D-91EA-4557-8CCE-1AF693FE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57875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Call transcripts, financial ledgers, customer evidence, SOPs, and past deliverables.</a:t>
            </a:r>
          </a:p>
        </p:txBody>
      </p:sp>
      <p:sp>
        <p:nvSpPr>
          <p:cNvPr id="18" name="footer-4">
            <a:extLst xmlns:a="http://schemas.openxmlformats.org/drawingml/2006/main">
              <a:ext uri="{FF2B5EF4-FFF2-40B4-BE49-F238E27FC236}">
                <a16:creationId xmlns:a16="http://schemas.microsoft.com/office/drawing/2014/main" id="{36F290D1-5A73-4CB8-9C17-D46835BC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6B63"/>
                </a:solidFill>
              </a:defRPr>
            </a:pPr>
            <a:r>
              <a:rPr sz="825" b="1" i="0">
                <a:solidFill>
                  <a:srgbClr val="6F6B63"/>
                </a:solidFill>
              </a:rPr>
              <a:t>THE AGENTIC OS FIELD GUIDE</a:t>
            </a:r>
          </a:p>
        </p:txBody>
      </p:sp>
      <p:sp>
        <p:nvSpPr>
          <p:cNvPr id="19" name="page-4">
            <a:extLst xmlns:a="http://schemas.openxmlformats.org/drawingml/2006/main">
              <a:ext uri="{FF2B5EF4-FFF2-40B4-BE49-F238E27FC236}">
                <a16:creationId xmlns:a16="http://schemas.microsoft.com/office/drawing/2014/main" id="{65F8E5A0-D894-47A6-B607-5C09A5BB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6B63"/>
                </a:solidFill>
              </a:defRPr>
            </a:pPr>
            <a:r>
              <a:rPr sz="825" b="1" i="0">
                <a:solidFill>
                  <a:srgbClr val="6F6B6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002824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rules">
            <a:extLst xmlns:a="http://schemas.openxmlformats.org/drawingml/2006/main">
              <a:ext uri="{FF2B5EF4-FFF2-40B4-BE49-F238E27FC236}">
                <a16:creationId xmlns:a16="http://schemas.microsoft.com/office/drawing/2014/main" id="{50D87C24-8FA5-4FE6-AFA5-C1228F8A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58C2C"/>
                </a:solidFill>
              </a:defRPr>
            </a:pPr>
            <a:r>
              <a:rPr sz="1050" b="1" i="0">
                <a:solidFill>
                  <a:srgbClr val="C58C2C"/>
                </a:solidFill>
              </a:rPr>
              <a:t>03  /  RULES + HOOKS</a:t>
            </a:r>
          </a:p>
        </p:txBody>
      </p:sp>
      <p:sp>
        <p:nvSpPr>
          <p:cNvPr id="2" name="headline-rules">
            <a:extLst xmlns:a="http://schemas.openxmlformats.org/drawingml/2006/main">
              <a:ext uri="{FF2B5EF4-FFF2-40B4-BE49-F238E27FC236}">
                <a16:creationId xmlns:a16="http://schemas.microsoft.com/office/drawing/2014/main" id="{EE47CBE3-8E3D-4457-BD8C-DEB622ED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17191C"/>
                </a:solidFill>
              </a:defRPr>
            </a:pPr>
            <a:r>
              <a:rPr sz="3675" b="1" i="0">
                <a:solidFill>
                  <a:srgbClr val="17191C"/>
                </a:solidFill>
              </a:rPr>
              <a:t>Turn important constraints into behavior that fires.</a:t>
            </a:r>
          </a:p>
        </p:txBody>
      </p:sp>
      <p:sp>
        <p:nvSpPr>
          <p:cNvPr id="3" name="description-rules">
            <a:extLst xmlns:a="http://schemas.openxmlformats.org/drawingml/2006/main">
              <a:ext uri="{FF2B5EF4-FFF2-40B4-BE49-F238E27FC236}">
                <a16:creationId xmlns:a16="http://schemas.microsoft.com/office/drawing/2014/main" id="{ED694CD0-4F34-40D7-BEF0-49BB8FE5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676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F6B63"/>
                </a:solidFill>
              </a:defRPr>
            </a:pPr>
            <a:r>
              <a:rPr sz="1575" b="0" i="0">
                <a:solidFill>
                  <a:srgbClr val="6F6B63"/>
                </a:solidFill>
              </a:rPr>
              <a:t>Rules constrain behavior. Hooks make critical constraints deterministic before or after a real event.</a:t>
            </a:r>
          </a:p>
        </p:txBody>
      </p:sp>
      <p:sp>
        <p:nvSpPr>
          <p:cNvPr id="4" name="rule-rules">
            <a:extLst xmlns:a="http://schemas.openxmlformats.org/drawingml/2006/main">
              <a:ext uri="{FF2B5EF4-FFF2-40B4-BE49-F238E27FC236}">
                <a16:creationId xmlns:a16="http://schemas.microsoft.com/office/drawing/2014/main" id="{779BAB6F-50D8-41B4-B66F-411F10A6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58C2C"/>
            </a:solidFill>
            <a:prstDash val="solid"/>
          </a:ln>
        </p:spPr>
      </p:sp>
      <p:sp>
        <p:nvSpPr>
          <p:cNvPr id="5" name="owns-label-rules">
            <a:extLst xmlns:a="http://schemas.openxmlformats.org/drawingml/2006/main">
              <a:ext uri="{FF2B5EF4-FFF2-40B4-BE49-F238E27FC236}">
                <a16:creationId xmlns:a16="http://schemas.microsoft.com/office/drawing/2014/main" id="{9AE3E3E3-5C4E-4893-8FB2-2D9BAF6E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F6B63"/>
                </a:solidFill>
              </a:defRPr>
            </a:pPr>
            <a:r>
              <a:rPr sz="975" b="1" i="0">
                <a:solidFill>
                  <a:srgbClr val="6F6B63"/>
                </a:solidFill>
              </a:rPr>
              <a:t>WHAT THIS LAYER OWNS</a:t>
            </a:r>
          </a:p>
        </p:txBody>
      </p:sp>
      <p:sp>
        <p:nvSpPr>
          <p:cNvPr id="6" name="owns-rules">
            <a:extLst xmlns:a="http://schemas.openxmlformats.org/drawingml/2006/main">
              <a:ext uri="{FF2B5EF4-FFF2-40B4-BE49-F238E27FC236}">
                <a16:creationId xmlns:a16="http://schemas.microsoft.com/office/drawing/2014/main" id="{8E508018-F7F6-418A-BCE8-A9C8948A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676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7191C"/>
                </a:solidFill>
              </a:defRPr>
            </a:pPr>
            <a:r>
              <a:rPr sz="2175" b="1" i="0">
                <a:solidFill>
                  <a:srgbClr val="17191C"/>
                </a:solidFill>
              </a:rPr>
              <a:t>Guardrails · permissions · approvals · preflight · postflight</a:t>
            </a:r>
          </a:p>
        </p:txBody>
      </p:sp>
      <p:sp>
        <p:nvSpPr>
          <p:cNvPr id="7" name="artifacts-label-rules">
            <a:extLst xmlns:a="http://schemas.openxmlformats.org/drawingml/2006/main">
              <a:ext uri="{FF2B5EF4-FFF2-40B4-BE49-F238E27FC236}">
                <a16:creationId xmlns:a16="http://schemas.microsoft.com/office/drawing/2014/main" id="{76402691-6831-4CE3-A0BD-26B9A90A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B63"/>
                </a:solidFill>
              </a:defRPr>
            </a:pPr>
            <a:r>
              <a:rPr sz="900" b="1" i="0">
                <a:solidFill>
                  <a:srgbClr val="6F6B63"/>
                </a:solidFill>
              </a:rPr>
              <a:t>CANONICAL ARTIFACTS</a:t>
            </a:r>
          </a:p>
        </p:txBody>
      </p:sp>
      <p:sp>
        <p:nvSpPr>
          <p:cNvPr id="8" name="artifacts-rules">
            <a:extLst xmlns:a="http://schemas.openxmlformats.org/drawingml/2006/main">
              <a:ext uri="{FF2B5EF4-FFF2-40B4-BE49-F238E27FC236}">
                <a16:creationId xmlns:a16="http://schemas.microsoft.com/office/drawing/2014/main" id="{C6D31842-FB53-4FD2-9306-2C734018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58C2C"/>
                </a:solidFill>
              </a:defRPr>
            </a:pPr>
            <a:r>
              <a:rPr sz="1350" b="1" i="0">
                <a:solidFill>
                  <a:srgbClr val="C58C2C"/>
                </a:solidFill>
              </a:rPr>
              <a:t>rules/   preflight   postflight   approvals</a:t>
            </a:r>
          </a:p>
        </p:txBody>
      </p:sp>
      <p:sp>
        <p:nvSpPr>
          <p:cNvPr id="9" name="layer-ring-rules">
            <a:extLst xmlns:a="http://schemas.openxmlformats.org/drawingml/2006/main">
              <a:ext uri="{FF2B5EF4-FFF2-40B4-BE49-F238E27FC236}">
                <a16:creationId xmlns:a16="http://schemas.microsoft.com/office/drawing/2014/main" id="{ED03D4D4-02C2-4B2B-913D-D4CEDAAC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66800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58C2C"/>
            </a:solidFill>
            <a:prstDash val="solid"/>
          </a:ln>
        </p:spPr>
      </p:sp>
      <p:sp>
        <p:nvSpPr>
          <p:cNvPr id="10" name="layer-orb-rules">
            <a:extLst xmlns:a="http://schemas.openxmlformats.org/drawingml/2006/main">
              <a:ext uri="{FF2B5EF4-FFF2-40B4-BE49-F238E27FC236}">
                <a16:creationId xmlns:a16="http://schemas.microsoft.com/office/drawing/2014/main" id="{08DF5BD3-40B5-4AB7-AD1B-467268F7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3525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8C2C"/>
          </a:solidFill>
          <a:ln xmlns:a="http://schemas.openxmlformats.org/drawingml/2006/main" w="0">
            <a:solidFill>
              <a:srgbClr val="C58C2C"/>
            </a:solidFill>
            <a:prstDash val="solid"/>
          </a:ln>
        </p:spPr>
      </p:sp>
      <p:sp>
        <p:nvSpPr>
          <p:cNvPr id="11" name="layer-number-rules">
            <a:extLst xmlns:a="http://schemas.openxmlformats.org/drawingml/2006/main">
              <a:ext uri="{FF2B5EF4-FFF2-40B4-BE49-F238E27FC236}">
                <a16:creationId xmlns:a16="http://schemas.microsoft.com/office/drawing/2014/main" id="{EDCBAAA9-A1F0-4284-BD83-9FD32765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209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200" b="1" i="0">
                <a:solidFill>
                  <a:srgbClr val="17191C"/>
                </a:solidFill>
              </a:defRPr>
            </a:pPr>
            <a:r>
              <a:rPr sz="7200" b="1" i="0">
                <a:solidFill>
                  <a:srgbClr val="17191C"/>
                </a:solidFill>
              </a:rPr>
              <a:t>03</a:t>
            </a:r>
          </a:p>
        </p:txBody>
      </p:sp>
      <p:sp>
        <p:nvSpPr>
          <p:cNvPr id="12" name="layer-name-rules">
            <a:extLst xmlns:a="http://schemas.openxmlformats.org/drawingml/2006/main">
              <a:ext uri="{FF2B5EF4-FFF2-40B4-BE49-F238E27FC236}">
                <a16:creationId xmlns:a16="http://schemas.microsoft.com/office/drawing/2014/main" id="{33ED87A8-D80D-47CD-8ABF-7DA59976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432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7191C"/>
                </a:solidFill>
              </a:defRPr>
            </a:pPr>
            <a:r>
              <a:rPr sz="2100" b="1" i="0">
                <a:solidFill>
                  <a:srgbClr val="17191C"/>
                </a:solidFill>
              </a:rPr>
              <a:t>Rules + Hooks</a:t>
            </a:r>
          </a:p>
        </p:txBody>
      </p:sp>
      <p:sp>
        <p:nvSpPr>
          <p:cNvPr id="13" name="cadence-label-rules">
            <a:extLst xmlns:a="http://schemas.openxmlformats.org/drawingml/2006/main">
              <a:ext uri="{FF2B5EF4-FFF2-40B4-BE49-F238E27FC236}">
                <a16:creationId xmlns:a16="http://schemas.microsoft.com/office/drawing/2014/main" id="{D470A6FD-F506-4BF7-B03E-B3B37CF6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29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F6B63"/>
                </a:solidFill>
              </a:defRPr>
            </a:pPr>
            <a:r>
              <a:rPr sz="900" b="1" i="0">
                <a:solidFill>
                  <a:srgbClr val="6F6B63"/>
                </a:solidFill>
              </a:rPr>
              <a:t>CONTEXT HALF-LIFE</a:t>
            </a:r>
          </a:p>
        </p:txBody>
      </p:sp>
      <p:sp>
        <p:nvSpPr>
          <p:cNvPr id="14" name="cadence-rules">
            <a:extLst xmlns:a="http://schemas.openxmlformats.org/drawingml/2006/main">
              <a:ext uri="{FF2B5EF4-FFF2-40B4-BE49-F238E27FC236}">
                <a16:creationId xmlns:a16="http://schemas.microsoft.com/office/drawing/2014/main" id="{4760C64A-4CC1-4256-91A0-385A89B6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33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58C2C"/>
                </a:solidFill>
              </a:defRPr>
            </a:pPr>
            <a:r>
              <a:rPr sz="1800" b="1" i="0">
                <a:solidFill>
                  <a:srgbClr val="C58C2C"/>
                </a:solidFill>
              </a:rPr>
              <a:t>≈ 60 DAYS</a:t>
            </a:r>
          </a:p>
        </p:txBody>
      </p:sp>
      <p:sp>
        <p:nvSpPr>
          <p:cNvPr id="15" name="example-band-rules">
            <a:extLst xmlns:a="http://schemas.openxmlformats.org/drawingml/2006/main">
              <a:ext uri="{FF2B5EF4-FFF2-40B4-BE49-F238E27FC236}">
                <a16:creationId xmlns:a16="http://schemas.microsoft.com/office/drawing/2014/main" id="{A9E7EA17-B0EC-4F05-A73C-54368AC4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215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C2C"/>
          </a:solidFill>
          <a:ln xmlns:a="http://schemas.openxmlformats.org/drawingml/2006/main" w="0">
            <a:solidFill>
              <a:srgbClr val="C58C2C"/>
            </a:solidFill>
            <a:prstDash val="solid"/>
          </a:ln>
        </p:spPr>
      </p:sp>
      <p:sp>
        <p:nvSpPr>
          <p:cNvPr id="16" name="example-label-rules">
            <a:extLst xmlns:a="http://schemas.openxmlformats.org/drawingml/2006/main">
              <a:ext uri="{FF2B5EF4-FFF2-40B4-BE49-F238E27FC236}">
                <a16:creationId xmlns:a16="http://schemas.microsoft.com/office/drawing/2014/main" id="{F0206B52-B118-4FD3-B933-ADD3311A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191C"/>
                </a:solidFill>
              </a:defRPr>
            </a:pPr>
            <a:r>
              <a:rPr sz="900" b="1" i="0">
                <a:solidFill>
                  <a:srgbClr val="17191C"/>
                </a:solidFill>
              </a:rPr>
              <a:t>IN PRACTICE</a:t>
            </a:r>
          </a:p>
        </p:txBody>
      </p:sp>
      <p:sp>
        <p:nvSpPr>
          <p:cNvPr id="17" name="example-rules">
            <a:extLst xmlns:a="http://schemas.openxmlformats.org/drawingml/2006/main">
              <a:ext uri="{FF2B5EF4-FFF2-40B4-BE49-F238E27FC236}">
                <a16:creationId xmlns:a16="http://schemas.microsoft.com/office/drawing/2014/main" id="{41D89666-62CA-4435-9A8F-F8CD0A06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57875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191C"/>
                </a:solidFill>
              </a:defRPr>
            </a:pPr>
            <a:r>
              <a:rPr sz="1350" b="1" i="0">
                <a:solidFill>
                  <a:srgbClr val="17191C"/>
                </a:solidFill>
              </a:rPr>
              <a:t>Never blend client context. Scan every outbound commit for personally identifiable information.</a:t>
            </a:r>
          </a:p>
        </p:txBody>
      </p:sp>
      <p:sp>
        <p:nvSpPr>
          <p:cNvPr id="18" name="footer-5">
            <a:extLst xmlns:a="http://schemas.openxmlformats.org/drawingml/2006/main">
              <a:ext uri="{FF2B5EF4-FFF2-40B4-BE49-F238E27FC236}">
                <a16:creationId xmlns:a16="http://schemas.microsoft.com/office/drawing/2014/main" id="{90F2AC70-DF3F-4DD5-9B83-8A7C9A5E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6B63"/>
                </a:solidFill>
              </a:defRPr>
            </a:pPr>
            <a:r>
              <a:rPr sz="825" b="1" i="0">
                <a:solidFill>
                  <a:srgbClr val="6F6B63"/>
                </a:solidFill>
              </a:rPr>
              <a:t>THE AGENTIC OS FIELD GUIDE</a:t>
            </a:r>
          </a:p>
        </p:txBody>
      </p:sp>
      <p:sp>
        <p:nvSpPr>
          <p:cNvPr id="19" name="page-5">
            <a:extLst xmlns:a="http://schemas.openxmlformats.org/drawingml/2006/main">
              <a:ext uri="{FF2B5EF4-FFF2-40B4-BE49-F238E27FC236}">
                <a16:creationId xmlns:a16="http://schemas.microsoft.com/office/drawing/2014/main" id="{EA3669B5-C2DD-4882-AD21-2AD29D37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6B63"/>
                </a:solidFill>
              </a:defRPr>
            </a:pPr>
            <a:r>
              <a:rPr sz="825" b="1" i="0">
                <a:solidFill>
                  <a:srgbClr val="6F6B6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189958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skills">
            <a:extLst xmlns:a="http://schemas.openxmlformats.org/drawingml/2006/main">
              <a:ext uri="{FF2B5EF4-FFF2-40B4-BE49-F238E27FC236}">
                <a16:creationId xmlns:a16="http://schemas.microsoft.com/office/drawing/2014/main" id="{2E136DFA-CFD0-4659-ACFD-E8D037FC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48F67"/>
                </a:solidFill>
              </a:defRPr>
            </a:pPr>
            <a:r>
              <a:rPr sz="1050" b="1" i="0">
                <a:solidFill>
                  <a:srgbClr val="648F67"/>
                </a:solidFill>
              </a:rPr>
              <a:t>04  /  SKILLS</a:t>
            </a:r>
          </a:p>
        </p:txBody>
      </p:sp>
      <p:sp>
        <p:nvSpPr>
          <p:cNvPr id="2" name="headline-skills">
            <a:extLst xmlns:a="http://schemas.openxmlformats.org/drawingml/2006/main">
              <a:ext uri="{FF2B5EF4-FFF2-40B4-BE49-F238E27FC236}">
                <a16:creationId xmlns:a16="http://schemas.microsoft.com/office/drawing/2014/main" id="{CA4BBDF5-7853-4169-B56F-3533540D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17191C"/>
                </a:solidFill>
              </a:defRPr>
            </a:pPr>
            <a:r>
              <a:rPr sz="3675" b="1" i="0">
                <a:solidFill>
                  <a:srgbClr val="17191C"/>
                </a:solidFill>
              </a:rPr>
              <a:t>Encode work only after you understand the judgment.</a:t>
            </a:r>
          </a:p>
        </p:txBody>
      </p:sp>
      <p:sp>
        <p:nvSpPr>
          <p:cNvPr id="3" name="description-skills">
            <a:extLst xmlns:a="http://schemas.openxmlformats.org/drawingml/2006/main">
              <a:ext uri="{FF2B5EF4-FFF2-40B4-BE49-F238E27FC236}">
                <a16:creationId xmlns:a16="http://schemas.microsoft.com/office/drawing/2014/main" id="{6FFEDEF4-B426-44CE-840A-FEAF15AB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676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F6B63"/>
                </a:solidFill>
              </a:defRPr>
            </a:pPr>
            <a:r>
              <a:rPr sz="1575" b="0" i="0">
                <a:solidFill>
                  <a:srgbClr val="6F6B63"/>
                </a:solidFill>
              </a:rPr>
              <a:t>A skill captures a repeatable workflow that still benefits from judgment, iteration, and a human definition of done.</a:t>
            </a:r>
          </a:p>
        </p:txBody>
      </p:sp>
      <p:sp>
        <p:nvSpPr>
          <p:cNvPr id="4" name="rule-skills">
            <a:extLst xmlns:a="http://schemas.openxmlformats.org/drawingml/2006/main">
              <a:ext uri="{FF2B5EF4-FFF2-40B4-BE49-F238E27FC236}">
                <a16:creationId xmlns:a16="http://schemas.microsoft.com/office/drawing/2014/main" id="{7A940FEB-5156-4E06-BDF8-CE6BB0CE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48F67"/>
            </a:solidFill>
            <a:prstDash val="solid"/>
          </a:ln>
        </p:spPr>
      </p:sp>
      <p:sp>
        <p:nvSpPr>
          <p:cNvPr id="5" name="owns-label-skills">
            <a:extLst xmlns:a="http://schemas.openxmlformats.org/drawingml/2006/main">
              <a:ext uri="{FF2B5EF4-FFF2-40B4-BE49-F238E27FC236}">
                <a16:creationId xmlns:a16="http://schemas.microsoft.com/office/drawing/2014/main" id="{B04D72CB-48ED-4488-9319-8B1352A7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F6B63"/>
                </a:solidFill>
              </a:defRPr>
            </a:pPr>
            <a:r>
              <a:rPr sz="975" b="1" i="0">
                <a:solidFill>
                  <a:srgbClr val="6F6B63"/>
                </a:solidFill>
              </a:rPr>
              <a:t>WHAT THIS LAYER OWNS</a:t>
            </a:r>
          </a:p>
        </p:txBody>
      </p:sp>
      <p:sp>
        <p:nvSpPr>
          <p:cNvPr id="6" name="owns-skills">
            <a:extLst xmlns:a="http://schemas.openxmlformats.org/drawingml/2006/main">
              <a:ext uri="{FF2B5EF4-FFF2-40B4-BE49-F238E27FC236}">
                <a16:creationId xmlns:a16="http://schemas.microsoft.com/office/drawing/2014/main" id="{C26B27D6-B420-4241-BE72-EA2784A4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676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7191C"/>
                </a:solidFill>
              </a:defRPr>
            </a:pPr>
            <a:r>
              <a:rPr sz="2175" b="1" i="0">
                <a:solidFill>
                  <a:srgbClr val="17191C"/>
                </a:solidFill>
              </a:rPr>
              <a:t>Inputs · steps · judgment points · templates · verification</a:t>
            </a:r>
          </a:p>
        </p:txBody>
      </p:sp>
      <p:sp>
        <p:nvSpPr>
          <p:cNvPr id="7" name="artifacts-label-skills">
            <a:extLst xmlns:a="http://schemas.openxmlformats.org/drawingml/2006/main">
              <a:ext uri="{FF2B5EF4-FFF2-40B4-BE49-F238E27FC236}">
                <a16:creationId xmlns:a16="http://schemas.microsoft.com/office/drawing/2014/main" id="{7F0B1F00-931E-49A3-801C-187056A5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B63"/>
                </a:solidFill>
              </a:defRPr>
            </a:pPr>
            <a:r>
              <a:rPr sz="900" b="1" i="0">
                <a:solidFill>
                  <a:srgbClr val="6F6B63"/>
                </a:solidFill>
              </a:rPr>
              <a:t>CANONICAL ARTIFACTS</a:t>
            </a:r>
          </a:p>
        </p:txBody>
      </p:sp>
      <p:sp>
        <p:nvSpPr>
          <p:cNvPr id="8" name="artifacts-skills">
            <a:extLst xmlns:a="http://schemas.openxmlformats.org/drawingml/2006/main">
              <a:ext uri="{FF2B5EF4-FFF2-40B4-BE49-F238E27FC236}">
                <a16:creationId xmlns:a16="http://schemas.microsoft.com/office/drawing/2014/main" id="{00DA7F8F-F4BE-4C67-AD23-4FAD1BAE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48F67"/>
                </a:solidFill>
              </a:defRPr>
            </a:pPr>
            <a:r>
              <a:rPr sz="1350" b="1" i="0">
                <a:solidFill>
                  <a:srgbClr val="648F67"/>
                </a:solidFill>
              </a:rPr>
              <a:t>SKILL.md   templates/   references/   scripts/</a:t>
            </a:r>
          </a:p>
        </p:txBody>
      </p:sp>
      <p:sp>
        <p:nvSpPr>
          <p:cNvPr id="9" name="layer-ring-skills">
            <a:extLst xmlns:a="http://schemas.openxmlformats.org/drawingml/2006/main">
              <a:ext uri="{FF2B5EF4-FFF2-40B4-BE49-F238E27FC236}">
                <a16:creationId xmlns:a16="http://schemas.microsoft.com/office/drawing/2014/main" id="{DC0CF08E-F18A-4C60-B478-5776E931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66800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48F67"/>
            </a:solidFill>
            <a:prstDash val="solid"/>
          </a:ln>
        </p:spPr>
      </p:sp>
      <p:sp>
        <p:nvSpPr>
          <p:cNvPr id="10" name="layer-orb-skills">
            <a:extLst xmlns:a="http://schemas.openxmlformats.org/drawingml/2006/main">
              <a:ext uri="{FF2B5EF4-FFF2-40B4-BE49-F238E27FC236}">
                <a16:creationId xmlns:a16="http://schemas.microsoft.com/office/drawing/2014/main" id="{71E74423-5470-4609-BF6E-82C9794E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3525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8F67"/>
          </a:solidFill>
          <a:ln xmlns:a="http://schemas.openxmlformats.org/drawingml/2006/main" w="0">
            <a:solidFill>
              <a:srgbClr val="648F67"/>
            </a:solidFill>
            <a:prstDash val="solid"/>
          </a:ln>
        </p:spPr>
      </p:sp>
      <p:sp>
        <p:nvSpPr>
          <p:cNvPr id="11" name="layer-number-skills">
            <a:extLst xmlns:a="http://schemas.openxmlformats.org/drawingml/2006/main">
              <a:ext uri="{FF2B5EF4-FFF2-40B4-BE49-F238E27FC236}">
                <a16:creationId xmlns:a16="http://schemas.microsoft.com/office/drawing/2014/main" id="{9453562B-BA99-4116-A40B-D10CF5BE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209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200" b="1" i="0">
                <a:solidFill>
                  <a:srgbClr val="FFFFFF"/>
                </a:solidFill>
              </a:defRPr>
            </a:pPr>
            <a:r>
              <a:rPr sz="7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2" name="layer-name-skills">
            <a:extLst xmlns:a="http://schemas.openxmlformats.org/drawingml/2006/main">
              <a:ext uri="{FF2B5EF4-FFF2-40B4-BE49-F238E27FC236}">
                <a16:creationId xmlns:a16="http://schemas.microsoft.com/office/drawing/2014/main" id="{1AE8A846-D621-4AF7-B867-91B662CF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432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Skills</a:t>
            </a:r>
          </a:p>
        </p:txBody>
      </p:sp>
      <p:sp>
        <p:nvSpPr>
          <p:cNvPr id="13" name="cadence-label-skills">
            <a:extLst xmlns:a="http://schemas.openxmlformats.org/drawingml/2006/main">
              <a:ext uri="{FF2B5EF4-FFF2-40B4-BE49-F238E27FC236}">
                <a16:creationId xmlns:a16="http://schemas.microsoft.com/office/drawing/2014/main" id="{F4E7E0DE-E1F9-4C64-9754-D791BE86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29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F6B63"/>
                </a:solidFill>
              </a:defRPr>
            </a:pPr>
            <a:r>
              <a:rPr sz="900" b="1" i="0">
                <a:solidFill>
                  <a:srgbClr val="6F6B63"/>
                </a:solidFill>
              </a:rPr>
              <a:t>CONTEXT HALF-LIFE</a:t>
            </a:r>
          </a:p>
        </p:txBody>
      </p:sp>
      <p:sp>
        <p:nvSpPr>
          <p:cNvPr id="14" name="cadence-skills">
            <a:extLst xmlns:a="http://schemas.openxmlformats.org/drawingml/2006/main">
              <a:ext uri="{FF2B5EF4-FFF2-40B4-BE49-F238E27FC236}">
                <a16:creationId xmlns:a16="http://schemas.microsoft.com/office/drawing/2014/main" id="{5ADE23D5-A7E7-48CA-BC88-05F7384C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33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648F67"/>
                </a:solidFill>
              </a:defRPr>
            </a:pPr>
            <a:r>
              <a:rPr sz="1800" b="1" i="0">
                <a:solidFill>
                  <a:srgbClr val="648F67"/>
                </a:solidFill>
              </a:rPr>
              <a:t>≈ 24 DAYS</a:t>
            </a:r>
          </a:p>
        </p:txBody>
      </p:sp>
      <p:sp>
        <p:nvSpPr>
          <p:cNvPr id="15" name="example-band-skills">
            <a:extLst xmlns:a="http://schemas.openxmlformats.org/drawingml/2006/main">
              <a:ext uri="{FF2B5EF4-FFF2-40B4-BE49-F238E27FC236}">
                <a16:creationId xmlns:a16="http://schemas.microsoft.com/office/drawing/2014/main" id="{4C3FB0AF-675F-45F3-AA54-63FDD928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215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F67"/>
          </a:solidFill>
          <a:ln xmlns:a="http://schemas.openxmlformats.org/drawingml/2006/main" w="0">
            <a:solidFill>
              <a:srgbClr val="648F67"/>
            </a:solidFill>
            <a:prstDash val="solid"/>
          </a:ln>
        </p:spPr>
      </p:sp>
      <p:sp>
        <p:nvSpPr>
          <p:cNvPr id="16" name="example-label-skills">
            <a:extLst xmlns:a="http://schemas.openxmlformats.org/drawingml/2006/main">
              <a:ext uri="{FF2B5EF4-FFF2-40B4-BE49-F238E27FC236}">
                <a16:creationId xmlns:a16="http://schemas.microsoft.com/office/drawing/2014/main" id="{53E81001-A54C-40B0-A83E-1A7669B5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IN PRACTICE</a:t>
            </a:r>
          </a:p>
        </p:txBody>
      </p:sp>
      <p:sp>
        <p:nvSpPr>
          <p:cNvPr id="17" name="example-skills">
            <a:extLst xmlns:a="http://schemas.openxmlformats.org/drawingml/2006/main">
              <a:ext uri="{FF2B5EF4-FFF2-40B4-BE49-F238E27FC236}">
                <a16:creationId xmlns:a16="http://schemas.microsoft.com/office/drawing/2014/main" id="{3FA95DF3-CDBA-4878-9747-796D1F15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57875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“/close-month” turns verified exports into a draft financial narrative for review.</a:t>
            </a:r>
          </a:p>
        </p:txBody>
      </p:sp>
      <p:sp>
        <p:nvSpPr>
          <p:cNvPr id="18" name="footer-6">
            <a:extLst xmlns:a="http://schemas.openxmlformats.org/drawingml/2006/main">
              <a:ext uri="{FF2B5EF4-FFF2-40B4-BE49-F238E27FC236}">
                <a16:creationId xmlns:a16="http://schemas.microsoft.com/office/drawing/2014/main" id="{7B4FA7A9-3AC1-4C4C-BF2E-A714DDF0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6B63"/>
                </a:solidFill>
              </a:defRPr>
            </a:pPr>
            <a:r>
              <a:rPr sz="825" b="1" i="0">
                <a:solidFill>
                  <a:srgbClr val="6F6B63"/>
                </a:solidFill>
              </a:rPr>
              <a:t>THE AGENTIC OS FIELD GUIDE</a:t>
            </a:r>
          </a:p>
        </p:txBody>
      </p:sp>
      <p:sp>
        <p:nvSpPr>
          <p:cNvPr id="19" name="page-6">
            <a:extLst xmlns:a="http://schemas.openxmlformats.org/drawingml/2006/main">
              <a:ext uri="{FF2B5EF4-FFF2-40B4-BE49-F238E27FC236}">
                <a16:creationId xmlns:a16="http://schemas.microsoft.com/office/drawing/2014/main" id="{5702A8FC-3D2A-4ABE-AB31-C9EA9922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6B63"/>
                </a:solidFill>
              </a:defRPr>
            </a:pPr>
            <a:r>
              <a:rPr sz="825" b="1" i="0">
                <a:solidFill>
                  <a:srgbClr val="6F6B6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655014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agents">
            <a:extLst xmlns:a="http://schemas.openxmlformats.org/drawingml/2006/main">
              <a:ext uri="{FF2B5EF4-FFF2-40B4-BE49-F238E27FC236}">
                <a16:creationId xmlns:a16="http://schemas.microsoft.com/office/drawing/2014/main" id="{373F59C4-D8D5-44AA-8797-EE92B642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A62A1"/>
                </a:solidFill>
              </a:defRPr>
            </a:pPr>
            <a:r>
              <a:rPr sz="1050" b="1" i="0">
                <a:solidFill>
                  <a:srgbClr val="8A62A1"/>
                </a:solidFill>
              </a:rPr>
              <a:t>05  /  AGENTS</a:t>
            </a:r>
          </a:p>
        </p:txBody>
      </p:sp>
      <p:sp>
        <p:nvSpPr>
          <p:cNvPr id="2" name="headline-agents">
            <a:extLst xmlns:a="http://schemas.openxmlformats.org/drawingml/2006/main">
              <a:ext uri="{FF2B5EF4-FFF2-40B4-BE49-F238E27FC236}">
                <a16:creationId xmlns:a16="http://schemas.microsoft.com/office/drawing/2014/main" id="{880C6BF3-D099-45F4-8789-6FA45B68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17191C"/>
                </a:solidFill>
              </a:defRPr>
            </a:pPr>
            <a:r>
              <a:rPr sz="3675" b="1" i="0">
                <a:solidFill>
                  <a:srgbClr val="17191C"/>
                </a:solidFill>
              </a:rPr>
              <a:t>Materialize a role only when several skills become a job.</a:t>
            </a:r>
          </a:p>
        </p:txBody>
      </p:sp>
      <p:sp>
        <p:nvSpPr>
          <p:cNvPr id="3" name="description-agents">
            <a:extLst xmlns:a="http://schemas.openxmlformats.org/drawingml/2006/main">
              <a:ext uri="{FF2B5EF4-FFF2-40B4-BE49-F238E27FC236}">
                <a16:creationId xmlns:a16="http://schemas.microsoft.com/office/drawing/2014/main" id="{C3C54411-7510-4326-A318-463ED6D8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676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F6B63"/>
                </a:solidFill>
              </a:defRPr>
            </a:pPr>
            <a:r>
              <a:rPr sz="1575" b="0" i="0">
                <a:solidFill>
                  <a:srgbClr val="6F6B63"/>
                </a:solidFill>
              </a:rPr>
              <a:t>An agent is a durable role composed from proven skills, with clear ownership, limits, and a handoff contract.</a:t>
            </a:r>
          </a:p>
        </p:txBody>
      </p:sp>
      <p:sp>
        <p:nvSpPr>
          <p:cNvPr id="4" name="rule-agents">
            <a:extLst xmlns:a="http://schemas.openxmlformats.org/drawingml/2006/main">
              <a:ext uri="{FF2B5EF4-FFF2-40B4-BE49-F238E27FC236}">
                <a16:creationId xmlns:a16="http://schemas.microsoft.com/office/drawing/2014/main" id="{B45CCE85-E18B-4388-B845-034F8C0F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A62A1"/>
            </a:solidFill>
            <a:prstDash val="solid"/>
          </a:ln>
        </p:spPr>
      </p:sp>
      <p:sp>
        <p:nvSpPr>
          <p:cNvPr id="5" name="owns-label-agents">
            <a:extLst xmlns:a="http://schemas.openxmlformats.org/drawingml/2006/main">
              <a:ext uri="{FF2B5EF4-FFF2-40B4-BE49-F238E27FC236}">
                <a16:creationId xmlns:a16="http://schemas.microsoft.com/office/drawing/2014/main" id="{70C92E40-5CB6-43EB-A5EE-254FE256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F6B63"/>
                </a:solidFill>
              </a:defRPr>
            </a:pPr>
            <a:r>
              <a:rPr sz="975" b="1" i="0">
                <a:solidFill>
                  <a:srgbClr val="6F6B63"/>
                </a:solidFill>
              </a:rPr>
              <a:t>WHAT THIS LAYER OWNS</a:t>
            </a:r>
          </a:p>
        </p:txBody>
      </p:sp>
      <p:sp>
        <p:nvSpPr>
          <p:cNvPr id="6" name="owns-agents">
            <a:extLst xmlns:a="http://schemas.openxmlformats.org/drawingml/2006/main">
              <a:ext uri="{FF2B5EF4-FFF2-40B4-BE49-F238E27FC236}">
                <a16:creationId xmlns:a16="http://schemas.microsoft.com/office/drawing/2014/main" id="{4F1F54C9-057C-4B95-8328-81BB7004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676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7191C"/>
                </a:solidFill>
              </a:defRPr>
            </a:pPr>
            <a:r>
              <a:rPr sz="2175" b="1" i="0">
                <a:solidFill>
                  <a:srgbClr val="17191C"/>
                </a:solidFill>
              </a:rPr>
              <a:t>Objectives · responsibilities · skill map · escalation · handoffs</a:t>
            </a:r>
          </a:p>
        </p:txBody>
      </p:sp>
      <p:sp>
        <p:nvSpPr>
          <p:cNvPr id="7" name="artifacts-label-agents">
            <a:extLst xmlns:a="http://schemas.openxmlformats.org/drawingml/2006/main">
              <a:ext uri="{FF2B5EF4-FFF2-40B4-BE49-F238E27FC236}">
                <a16:creationId xmlns:a16="http://schemas.microsoft.com/office/drawing/2014/main" id="{05488119-6FE8-4168-8281-6726870F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B63"/>
                </a:solidFill>
              </a:defRPr>
            </a:pPr>
            <a:r>
              <a:rPr sz="900" b="1" i="0">
                <a:solidFill>
                  <a:srgbClr val="6F6B63"/>
                </a:solidFill>
              </a:rPr>
              <a:t>CANONICAL ARTIFACTS</a:t>
            </a:r>
          </a:p>
        </p:txBody>
      </p:sp>
      <p:sp>
        <p:nvSpPr>
          <p:cNvPr id="8" name="artifacts-agents">
            <a:extLst xmlns:a="http://schemas.openxmlformats.org/drawingml/2006/main">
              <a:ext uri="{FF2B5EF4-FFF2-40B4-BE49-F238E27FC236}">
                <a16:creationId xmlns:a16="http://schemas.microsoft.com/office/drawing/2014/main" id="{86108502-768A-4B3A-A05A-A472E69E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A62A1"/>
                </a:solidFill>
              </a:defRPr>
            </a:pPr>
            <a:r>
              <a:rPr sz="1350" b="1" i="0">
                <a:solidFill>
                  <a:srgbClr val="8A62A1"/>
                </a:solidFill>
              </a:rPr>
              <a:t>role.md   responsibilities   skill-map   handoffs</a:t>
            </a:r>
          </a:p>
        </p:txBody>
      </p:sp>
      <p:sp>
        <p:nvSpPr>
          <p:cNvPr id="9" name="layer-ring-agents">
            <a:extLst xmlns:a="http://schemas.openxmlformats.org/drawingml/2006/main">
              <a:ext uri="{FF2B5EF4-FFF2-40B4-BE49-F238E27FC236}">
                <a16:creationId xmlns:a16="http://schemas.microsoft.com/office/drawing/2014/main" id="{0A237D7E-7686-48D0-BDF4-2399A7F9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66800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A62A1"/>
            </a:solidFill>
            <a:prstDash val="solid"/>
          </a:ln>
        </p:spPr>
      </p:sp>
      <p:sp>
        <p:nvSpPr>
          <p:cNvPr id="10" name="layer-orb-agents">
            <a:extLst xmlns:a="http://schemas.openxmlformats.org/drawingml/2006/main">
              <a:ext uri="{FF2B5EF4-FFF2-40B4-BE49-F238E27FC236}">
                <a16:creationId xmlns:a16="http://schemas.microsoft.com/office/drawing/2014/main" id="{E1708D7E-DB6B-4832-AC50-0E82844E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3525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62A1"/>
          </a:solidFill>
          <a:ln xmlns:a="http://schemas.openxmlformats.org/drawingml/2006/main" w="0">
            <a:solidFill>
              <a:srgbClr val="8A62A1"/>
            </a:solidFill>
            <a:prstDash val="solid"/>
          </a:ln>
        </p:spPr>
      </p:sp>
      <p:sp>
        <p:nvSpPr>
          <p:cNvPr id="11" name="layer-number-agents">
            <a:extLst xmlns:a="http://schemas.openxmlformats.org/drawingml/2006/main">
              <a:ext uri="{FF2B5EF4-FFF2-40B4-BE49-F238E27FC236}">
                <a16:creationId xmlns:a16="http://schemas.microsoft.com/office/drawing/2014/main" id="{08A5A9FE-9D01-4073-AA5B-CFBD03FC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209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200" b="1" i="0">
                <a:solidFill>
                  <a:srgbClr val="FFFFFF"/>
                </a:solidFill>
              </a:defRPr>
            </a:pPr>
            <a:r>
              <a:rPr sz="7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2" name="layer-name-agents">
            <a:extLst xmlns:a="http://schemas.openxmlformats.org/drawingml/2006/main">
              <a:ext uri="{FF2B5EF4-FFF2-40B4-BE49-F238E27FC236}">
                <a16:creationId xmlns:a16="http://schemas.microsoft.com/office/drawing/2014/main" id="{DA9050FE-C01A-435A-9281-BD9AC47D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432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Agents</a:t>
            </a:r>
          </a:p>
        </p:txBody>
      </p:sp>
      <p:sp>
        <p:nvSpPr>
          <p:cNvPr id="13" name="cadence-label-agents">
            <a:extLst xmlns:a="http://schemas.openxmlformats.org/drawingml/2006/main">
              <a:ext uri="{FF2B5EF4-FFF2-40B4-BE49-F238E27FC236}">
                <a16:creationId xmlns:a16="http://schemas.microsoft.com/office/drawing/2014/main" id="{394ED6BF-D6B3-45A8-A397-D994EF22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29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F6B63"/>
                </a:solidFill>
              </a:defRPr>
            </a:pPr>
            <a:r>
              <a:rPr sz="900" b="1" i="0">
                <a:solidFill>
                  <a:srgbClr val="6F6B63"/>
                </a:solidFill>
              </a:rPr>
              <a:t>CONTEXT HALF-LIFE</a:t>
            </a:r>
          </a:p>
        </p:txBody>
      </p:sp>
      <p:sp>
        <p:nvSpPr>
          <p:cNvPr id="14" name="cadence-agents">
            <a:extLst xmlns:a="http://schemas.openxmlformats.org/drawingml/2006/main">
              <a:ext uri="{FF2B5EF4-FFF2-40B4-BE49-F238E27FC236}">
                <a16:creationId xmlns:a16="http://schemas.microsoft.com/office/drawing/2014/main" id="{0C2D776E-3EB5-482D-B441-315C1116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33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8A62A1"/>
                </a:solidFill>
              </a:defRPr>
            </a:pPr>
            <a:r>
              <a:rPr sz="1800" b="1" i="0">
                <a:solidFill>
                  <a:srgbClr val="8A62A1"/>
                </a:solidFill>
              </a:rPr>
              <a:t>≈ 12 DAYS</a:t>
            </a:r>
          </a:p>
        </p:txBody>
      </p:sp>
      <p:sp>
        <p:nvSpPr>
          <p:cNvPr id="15" name="example-band-agents">
            <a:extLst xmlns:a="http://schemas.openxmlformats.org/drawingml/2006/main">
              <a:ext uri="{FF2B5EF4-FFF2-40B4-BE49-F238E27FC236}">
                <a16:creationId xmlns:a16="http://schemas.microsoft.com/office/drawing/2014/main" id="{92C0A20B-8AA8-48E7-83D3-2CE742A0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215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2A1"/>
          </a:solidFill>
          <a:ln xmlns:a="http://schemas.openxmlformats.org/drawingml/2006/main" w="0">
            <a:solidFill>
              <a:srgbClr val="8A62A1"/>
            </a:solidFill>
            <a:prstDash val="solid"/>
          </a:ln>
        </p:spPr>
      </p:sp>
      <p:sp>
        <p:nvSpPr>
          <p:cNvPr id="16" name="example-label-agents">
            <a:extLst xmlns:a="http://schemas.openxmlformats.org/drawingml/2006/main">
              <a:ext uri="{FF2B5EF4-FFF2-40B4-BE49-F238E27FC236}">
                <a16:creationId xmlns:a16="http://schemas.microsoft.com/office/drawing/2014/main" id="{B16CDF98-4ABD-4D57-9D9E-B4A5A565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IN PRACTICE</a:t>
            </a:r>
          </a:p>
        </p:txBody>
      </p:sp>
      <p:sp>
        <p:nvSpPr>
          <p:cNvPr id="17" name="example-agents">
            <a:extLst xmlns:a="http://schemas.openxmlformats.org/drawingml/2006/main">
              <a:ext uri="{FF2B5EF4-FFF2-40B4-BE49-F238E27FC236}">
                <a16:creationId xmlns:a16="http://schemas.microsoft.com/office/drawing/2014/main" id="{1773E2D4-91D1-456C-9515-31FA2AEE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57875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A Senior Tax Strategist invokes bookkeeping and planning skills against verified data.</a:t>
            </a:r>
          </a:p>
        </p:txBody>
      </p:sp>
      <p:sp>
        <p:nvSpPr>
          <p:cNvPr id="18" name="footer-7">
            <a:extLst xmlns:a="http://schemas.openxmlformats.org/drawingml/2006/main">
              <a:ext uri="{FF2B5EF4-FFF2-40B4-BE49-F238E27FC236}">
                <a16:creationId xmlns:a16="http://schemas.microsoft.com/office/drawing/2014/main" id="{3C346B58-EF5D-4F98-9F87-F9B73505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6B63"/>
                </a:solidFill>
              </a:defRPr>
            </a:pPr>
            <a:r>
              <a:rPr sz="825" b="1" i="0">
                <a:solidFill>
                  <a:srgbClr val="6F6B63"/>
                </a:solidFill>
              </a:rPr>
              <a:t>THE AGENTIC OS FIELD GUIDE</a:t>
            </a:r>
          </a:p>
        </p:txBody>
      </p:sp>
      <p:sp>
        <p:nvSpPr>
          <p:cNvPr id="19" name="page-7">
            <a:extLst xmlns:a="http://schemas.openxmlformats.org/drawingml/2006/main">
              <a:ext uri="{FF2B5EF4-FFF2-40B4-BE49-F238E27FC236}">
                <a16:creationId xmlns:a16="http://schemas.microsoft.com/office/drawing/2014/main" id="{E7B5A7EF-F384-4F6F-991A-B1BE9FA0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6B63"/>
                </a:solidFill>
              </a:defRPr>
            </a:pPr>
            <a:r>
              <a:rPr sz="825" b="1" i="0">
                <a:solidFill>
                  <a:srgbClr val="6F6B6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55207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tools">
            <a:extLst xmlns:a="http://schemas.openxmlformats.org/drawingml/2006/main">
              <a:ext uri="{FF2B5EF4-FFF2-40B4-BE49-F238E27FC236}">
                <a16:creationId xmlns:a16="http://schemas.microsoft.com/office/drawing/2014/main" id="{2105CE6A-540A-43A8-A96E-CC839B69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B91B9"/>
                </a:solidFill>
              </a:defRPr>
            </a:pPr>
            <a:r>
              <a:rPr sz="1050" b="1" i="0">
                <a:solidFill>
                  <a:srgbClr val="4B91B9"/>
                </a:solidFill>
              </a:rPr>
              <a:t>06  /  TOOLS + DATA</a:t>
            </a:r>
          </a:p>
        </p:txBody>
      </p:sp>
      <p:sp>
        <p:nvSpPr>
          <p:cNvPr id="2" name="headline-tools">
            <a:extLst xmlns:a="http://schemas.openxmlformats.org/drawingml/2006/main">
              <a:ext uri="{FF2B5EF4-FFF2-40B4-BE49-F238E27FC236}">
                <a16:creationId xmlns:a16="http://schemas.microsoft.com/office/drawing/2014/main" id="{7C05C52A-6686-4E0A-9764-D4170EF4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17191C"/>
                </a:solidFill>
              </a:defRPr>
            </a:pPr>
            <a:r>
              <a:rPr sz="3675" b="1" i="0">
                <a:solidFill>
                  <a:srgbClr val="17191C"/>
                </a:solidFill>
              </a:rPr>
              <a:t>Connect to reality—but expect the surface to change fastest.</a:t>
            </a:r>
          </a:p>
        </p:txBody>
      </p:sp>
      <p:sp>
        <p:nvSpPr>
          <p:cNvPr id="3" name="description-tools">
            <a:extLst xmlns:a="http://schemas.openxmlformats.org/drawingml/2006/main">
              <a:ext uri="{FF2B5EF4-FFF2-40B4-BE49-F238E27FC236}">
                <a16:creationId xmlns:a16="http://schemas.microsoft.com/office/drawing/2014/main" id="{278DB5A3-13B7-410B-81F7-97886D9B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676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F6B63"/>
                </a:solidFill>
              </a:defRPr>
            </a:pPr>
            <a:r>
              <a:rPr sz="1575" b="0" i="0">
                <a:solidFill>
                  <a:srgbClr val="6F6B63"/>
                </a:solidFill>
              </a:rPr>
              <a:t>Tools connect the OS to live systems and data. Schemas, permissions, vendors, and interfaces make this the most volatile layer.</a:t>
            </a:r>
          </a:p>
        </p:txBody>
      </p:sp>
      <p:sp>
        <p:nvSpPr>
          <p:cNvPr id="4" name="rule-tools">
            <a:extLst xmlns:a="http://schemas.openxmlformats.org/drawingml/2006/main">
              <a:ext uri="{FF2B5EF4-FFF2-40B4-BE49-F238E27FC236}">
                <a16:creationId xmlns:a16="http://schemas.microsoft.com/office/drawing/2014/main" id="{144A71A3-BCEF-4BDD-876E-2C8F19B2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B91B9"/>
            </a:solidFill>
            <a:prstDash val="solid"/>
          </a:ln>
        </p:spPr>
      </p:sp>
      <p:sp>
        <p:nvSpPr>
          <p:cNvPr id="5" name="owns-label-tools">
            <a:extLst xmlns:a="http://schemas.openxmlformats.org/drawingml/2006/main">
              <a:ext uri="{FF2B5EF4-FFF2-40B4-BE49-F238E27FC236}">
                <a16:creationId xmlns:a16="http://schemas.microsoft.com/office/drawing/2014/main" id="{82E3177E-E49F-445D-8C3B-EA4821DB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F6B63"/>
                </a:solidFill>
              </a:defRPr>
            </a:pPr>
            <a:r>
              <a:rPr sz="975" b="1" i="0">
                <a:solidFill>
                  <a:srgbClr val="6F6B63"/>
                </a:solidFill>
              </a:rPr>
              <a:t>WHAT THIS LAYER OWNS</a:t>
            </a:r>
          </a:p>
        </p:txBody>
      </p:sp>
      <p:sp>
        <p:nvSpPr>
          <p:cNvPr id="6" name="owns-tools">
            <a:extLst xmlns:a="http://schemas.openxmlformats.org/drawingml/2006/main">
              <a:ext uri="{FF2B5EF4-FFF2-40B4-BE49-F238E27FC236}">
                <a16:creationId xmlns:a16="http://schemas.microsoft.com/office/drawing/2014/main" id="{B4CC4D2F-03A2-4C70-825E-E95E81C0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676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7191C"/>
                </a:solidFill>
              </a:defRPr>
            </a:pPr>
            <a:r>
              <a:rPr sz="2175" b="1" i="0">
                <a:solidFill>
                  <a:srgbClr val="17191C"/>
                </a:solidFill>
              </a:rPr>
              <a:t>APIs · MCPs · CLIs · applications · webhooks · live data</a:t>
            </a:r>
          </a:p>
        </p:txBody>
      </p:sp>
      <p:sp>
        <p:nvSpPr>
          <p:cNvPr id="7" name="artifacts-label-tools">
            <a:extLst xmlns:a="http://schemas.openxmlformats.org/drawingml/2006/main">
              <a:ext uri="{FF2B5EF4-FFF2-40B4-BE49-F238E27FC236}">
                <a16:creationId xmlns:a16="http://schemas.microsoft.com/office/drawing/2014/main" id="{7B7882A7-757B-4A18-BEA2-61787A10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F6B63"/>
                </a:solidFill>
              </a:defRPr>
            </a:pPr>
            <a:r>
              <a:rPr sz="900" b="1" i="0">
                <a:solidFill>
                  <a:srgbClr val="6F6B63"/>
                </a:solidFill>
              </a:rPr>
              <a:t>CANONICAL ARTIFACTS</a:t>
            </a:r>
          </a:p>
        </p:txBody>
      </p:sp>
      <p:sp>
        <p:nvSpPr>
          <p:cNvPr id="8" name="artifacts-tools">
            <a:extLst xmlns:a="http://schemas.openxmlformats.org/drawingml/2006/main">
              <a:ext uri="{FF2B5EF4-FFF2-40B4-BE49-F238E27FC236}">
                <a16:creationId xmlns:a16="http://schemas.microsoft.com/office/drawing/2014/main" id="{3A63FC1D-9EA3-474E-B7A7-C967D848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B91B9"/>
                </a:solidFill>
              </a:defRPr>
            </a:pPr>
            <a:r>
              <a:rPr sz="1350" b="1" i="0">
                <a:solidFill>
                  <a:srgbClr val="4B91B9"/>
                </a:solidFill>
              </a:rPr>
              <a:t>CLI   API   MCP   webhooks</a:t>
            </a:r>
          </a:p>
        </p:txBody>
      </p:sp>
      <p:sp>
        <p:nvSpPr>
          <p:cNvPr id="9" name="layer-ring-tools">
            <a:extLst xmlns:a="http://schemas.openxmlformats.org/drawingml/2006/main">
              <a:ext uri="{FF2B5EF4-FFF2-40B4-BE49-F238E27FC236}">
                <a16:creationId xmlns:a16="http://schemas.microsoft.com/office/drawing/2014/main" id="{61DDF3D4-3DDF-46D9-BD16-72E17E9E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66800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B91B9"/>
            </a:solidFill>
            <a:prstDash val="solid"/>
          </a:ln>
        </p:spPr>
      </p:sp>
      <p:sp>
        <p:nvSpPr>
          <p:cNvPr id="10" name="layer-orb-tools">
            <a:extLst xmlns:a="http://schemas.openxmlformats.org/drawingml/2006/main">
              <a:ext uri="{FF2B5EF4-FFF2-40B4-BE49-F238E27FC236}">
                <a16:creationId xmlns:a16="http://schemas.microsoft.com/office/drawing/2014/main" id="{1817F0E9-6DD8-4B71-BEB8-255E5C85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3525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91B9"/>
          </a:solidFill>
          <a:ln xmlns:a="http://schemas.openxmlformats.org/drawingml/2006/main" w="0">
            <a:solidFill>
              <a:srgbClr val="4B91B9"/>
            </a:solidFill>
            <a:prstDash val="solid"/>
          </a:ln>
        </p:spPr>
      </p:sp>
      <p:sp>
        <p:nvSpPr>
          <p:cNvPr id="11" name="layer-number-tools">
            <a:extLst xmlns:a="http://schemas.openxmlformats.org/drawingml/2006/main">
              <a:ext uri="{FF2B5EF4-FFF2-40B4-BE49-F238E27FC236}">
                <a16:creationId xmlns:a16="http://schemas.microsoft.com/office/drawing/2014/main" id="{558841A2-C6CE-48E3-AC3B-B29F0761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209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200" b="1" i="0">
                <a:solidFill>
                  <a:srgbClr val="FFFFFF"/>
                </a:solidFill>
              </a:defRPr>
            </a:pPr>
            <a:r>
              <a:rPr sz="7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2" name="layer-name-tools">
            <a:extLst xmlns:a="http://schemas.openxmlformats.org/drawingml/2006/main">
              <a:ext uri="{FF2B5EF4-FFF2-40B4-BE49-F238E27FC236}">
                <a16:creationId xmlns:a16="http://schemas.microsoft.com/office/drawing/2014/main" id="{124DE439-675F-4CCA-B508-BF2E6840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432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Tools + Data</a:t>
            </a:r>
          </a:p>
        </p:txBody>
      </p:sp>
      <p:sp>
        <p:nvSpPr>
          <p:cNvPr id="13" name="cadence-label-tools">
            <a:extLst xmlns:a="http://schemas.openxmlformats.org/drawingml/2006/main">
              <a:ext uri="{FF2B5EF4-FFF2-40B4-BE49-F238E27FC236}">
                <a16:creationId xmlns:a16="http://schemas.microsoft.com/office/drawing/2014/main" id="{00C10B13-5ACD-479E-A42B-C3A56DA3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29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F6B63"/>
                </a:solidFill>
              </a:defRPr>
            </a:pPr>
            <a:r>
              <a:rPr sz="900" b="1" i="0">
                <a:solidFill>
                  <a:srgbClr val="6F6B63"/>
                </a:solidFill>
              </a:rPr>
              <a:t>CONTEXT HALF-LIFE</a:t>
            </a:r>
          </a:p>
        </p:txBody>
      </p:sp>
      <p:sp>
        <p:nvSpPr>
          <p:cNvPr id="14" name="cadence-tools">
            <a:extLst xmlns:a="http://schemas.openxmlformats.org/drawingml/2006/main">
              <a:ext uri="{FF2B5EF4-FFF2-40B4-BE49-F238E27FC236}">
                <a16:creationId xmlns:a16="http://schemas.microsoft.com/office/drawing/2014/main" id="{E4F2ED1F-DD2E-4E89-BEB9-9BB58805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33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4B91B9"/>
                </a:solidFill>
              </a:defRPr>
            </a:pPr>
            <a:r>
              <a:rPr sz="1800" b="1" i="0">
                <a:solidFill>
                  <a:srgbClr val="4B91B9"/>
                </a:solidFill>
              </a:rPr>
              <a:t>HOURS → DAYS</a:t>
            </a:r>
          </a:p>
        </p:txBody>
      </p:sp>
      <p:sp>
        <p:nvSpPr>
          <p:cNvPr id="15" name="example-band-tools">
            <a:extLst xmlns:a="http://schemas.openxmlformats.org/drawingml/2006/main">
              <a:ext uri="{FF2B5EF4-FFF2-40B4-BE49-F238E27FC236}">
                <a16:creationId xmlns:a16="http://schemas.microsoft.com/office/drawing/2014/main" id="{16501C0A-281C-401E-AB73-A061D36C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215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1B9"/>
          </a:solidFill>
          <a:ln xmlns:a="http://schemas.openxmlformats.org/drawingml/2006/main" w="0">
            <a:solidFill>
              <a:srgbClr val="4B91B9"/>
            </a:solidFill>
            <a:prstDash val="solid"/>
          </a:ln>
        </p:spPr>
      </p:sp>
      <p:sp>
        <p:nvSpPr>
          <p:cNvPr id="16" name="example-label-tools">
            <a:extLst xmlns:a="http://schemas.openxmlformats.org/drawingml/2006/main">
              <a:ext uri="{FF2B5EF4-FFF2-40B4-BE49-F238E27FC236}">
                <a16:creationId xmlns:a16="http://schemas.microsoft.com/office/drawing/2014/main" id="{0531B718-605F-49AD-929A-D601992D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IN PRACTICE</a:t>
            </a:r>
          </a:p>
        </p:txBody>
      </p:sp>
      <p:sp>
        <p:nvSpPr>
          <p:cNvPr id="17" name="example-tools">
            <a:extLst xmlns:a="http://schemas.openxmlformats.org/drawingml/2006/main">
              <a:ext uri="{FF2B5EF4-FFF2-40B4-BE49-F238E27FC236}">
                <a16:creationId xmlns:a16="http://schemas.microsoft.com/office/drawing/2014/main" id="{D57E59A5-DC28-43CF-BFD2-73AC24BB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57875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Stripe, Fathom, QuickBooks, HubSpot, Notion, GitHub, and governed internal APIs.</a:t>
            </a:r>
          </a:p>
        </p:txBody>
      </p:sp>
      <p:sp>
        <p:nvSpPr>
          <p:cNvPr id="18" name="footer-8">
            <a:extLst xmlns:a="http://schemas.openxmlformats.org/drawingml/2006/main">
              <a:ext uri="{FF2B5EF4-FFF2-40B4-BE49-F238E27FC236}">
                <a16:creationId xmlns:a16="http://schemas.microsoft.com/office/drawing/2014/main" id="{DD88E588-3ECF-4495-BEA0-4F36A3F7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F6B63"/>
                </a:solidFill>
              </a:defRPr>
            </a:pPr>
            <a:r>
              <a:rPr sz="825" b="1" i="0">
                <a:solidFill>
                  <a:srgbClr val="6F6B63"/>
                </a:solidFill>
              </a:rPr>
              <a:t>THE AGENTIC OS FIELD GUIDE</a:t>
            </a:r>
          </a:p>
        </p:txBody>
      </p:sp>
      <p:sp>
        <p:nvSpPr>
          <p:cNvPr id="19" name="page-8">
            <a:extLst xmlns:a="http://schemas.openxmlformats.org/drawingml/2006/main">
              <a:ext uri="{FF2B5EF4-FFF2-40B4-BE49-F238E27FC236}">
                <a16:creationId xmlns:a16="http://schemas.microsoft.com/office/drawing/2014/main" id="{8F67950F-2792-413A-9536-AD588E2B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F6B63"/>
                </a:solidFill>
              </a:defRPr>
            </a:pPr>
            <a:r>
              <a:rPr sz="825" b="1" i="0">
                <a:solidFill>
                  <a:srgbClr val="6F6B6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499938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33F8137D-B08C-4E04-8260-CC220E19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F7651"/>
                </a:solidFill>
              </a:defRPr>
            </a:pPr>
            <a:r>
              <a:rPr sz="1050" b="1" i="0">
                <a:solidFill>
                  <a:srgbClr val="DF7651"/>
                </a:solidFill>
              </a:rPr>
              <a:t>THE OPERATING PRINCIPLE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B479136C-4A42-4C87-A0AC-EC52E291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75" b="1" i="0">
                <a:solidFill>
                  <a:srgbClr val="F4EFE5"/>
                </a:solidFill>
              </a:defRPr>
            </a:pPr>
            <a:r>
              <a:rPr sz="4575" b="1" i="0">
                <a:solidFill>
                  <a:srgbClr val="F4EFE5"/>
                </a:solidFill>
              </a:rPr>
              <a:t>Build inside out.</a:t>
            </a:r>
          </a:p>
          <a:p xmlns:a="http://schemas.openxmlformats.org/drawingml/2006/main">
            <a:pPr algn="l">
              <a:defRPr sz="4575" b="1" i="0">
                <a:solidFill>
                  <a:srgbClr val="F4EFE5"/>
                </a:solidFill>
              </a:defRPr>
            </a:pPr>
            <a:r>
              <a:rPr sz="4575" b="1" i="0">
                <a:solidFill>
                  <a:srgbClr val="F4EFE5"/>
                </a:solidFill>
              </a:rPr>
              <a:t>Maintain outside in.</a:t>
            </a:r>
          </a:p>
        </p:txBody>
      </p:sp>
      <p:sp>
        <p:nvSpPr>
          <p:cNvPr id="3" name="closing-subtitle">
            <a:extLst xmlns:a="http://schemas.openxmlformats.org/drawingml/2006/main">
              <a:ext uri="{FF2B5EF4-FFF2-40B4-BE49-F238E27FC236}">
                <a16:creationId xmlns:a16="http://schemas.microsoft.com/office/drawing/2014/main" id="{2F737623-74AA-4721-9523-30DD6FDD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BEB8AD"/>
                </a:solidFill>
              </a:defRPr>
            </a:pPr>
            <a:r>
              <a:rPr sz="1650" b="0" i="0">
                <a:solidFill>
                  <a:srgbClr val="BEB8AD"/>
                </a:solidFill>
              </a:rPr>
              <a:t>Stability starts at the center. Maintenance starts at the surface.</a:t>
            </a:r>
          </a:p>
        </p:txBody>
      </p:sp>
      <p:sp>
        <p:nvSpPr>
          <p:cNvPr id="4" name="build-label">
            <a:extLst xmlns:a="http://schemas.openxmlformats.org/drawingml/2006/main">
              <a:ext uri="{FF2B5EF4-FFF2-40B4-BE49-F238E27FC236}">
                <a16:creationId xmlns:a16="http://schemas.microsoft.com/office/drawing/2014/main" id="{CE51C74B-E0FA-4F51-BF41-E3EB86BA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4EFE5"/>
                </a:solidFill>
              </a:defRPr>
            </a:pPr>
            <a:r>
              <a:rPr sz="1050" b="1" i="0">
                <a:solidFill>
                  <a:srgbClr val="F4EFE5"/>
                </a:solidFill>
              </a:rPr>
              <a:t>BUILD  →</a:t>
            </a:r>
          </a:p>
        </p:txBody>
      </p:sp>
      <p:sp>
        <p:nvSpPr>
          <p:cNvPr id="5" name="build-bar-identity">
            <a:extLst xmlns:a="http://schemas.openxmlformats.org/drawingml/2006/main">
              <a:ext uri="{FF2B5EF4-FFF2-40B4-BE49-F238E27FC236}">
                <a16:creationId xmlns:a16="http://schemas.microsoft.com/office/drawing/2014/main" id="{0DC33190-2D8D-4C61-A11A-5AC69218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90900"/>
            <a:ext cx="1047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0">
            <a:solidFill>
              <a:srgbClr val="F4EFE5"/>
            </a:solidFill>
            <a:prstDash val="solid"/>
          </a:ln>
        </p:spPr>
      </p:sp>
      <p:sp>
        <p:nvSpPr>
          <p:cNvPr id="6" name="build-name-identity">
            <a:extLst xmlns:a="http://schemas.openxmlformats.org/drawingml/2006/main">
              <a:ext uri="{FF2B5EF4-FFF2-40B4-BE49-F238E27FC236}">
                <a16:creationId xmlns:a16="http://schemas.microsoft.com/office/drawing/2014/main" id="{8DC67C13-B4EC-48D4-9DB7-3572B964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33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4EFE5"/>
                </a:solidFill>
              </a:defRPr>
            </a:pPr>
            <a:r>
              <a:rPr sz="1125" b="1" i="0">
                <a:solidFill>
                  <a:srgbClr val="F4EFE5"/>
                </a:solidFill>
              </a:rPr>
              <a:t>Identity</a:t>
            </a:r>
          </a:p>
        </p:txBody>
      </p:sp>
      <p:sp>
        <p:nvSpPr>
          <p:cNvPr id="7" name="build-bar-substrate">
            <a:extLst xmlns:a="http://schemas.openxmlformats.org/drawingml/2006/main">
              <a:ext uri="{FF2B5EF4-FFF2-40B4-BE49-F238E27FC236}">
                <a16:creationId xmlns:a16="http://schemas.microsoft.com/office/drawing/2014/main" id="{FE5E1FC9-979A-4A09-94CC-E48FDDEF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43325"/>
            <a:ext cx="1733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7651"/>
          </a:solidFill>
          <a:ln xmlns:a="http://schemas.openxmlformats.org/drawingml/2006/main" w="0">
            <a:solidFill>
              <a:srgbClr val="DF7651"/>
            </a:solidFill>
            <a:prstDash val="solid"/>
          </a:ln>
        </p:spPr>
      </p:sp>
      <p:sp>
        <p:nvSpPr>
          <p:cNvPr id="8" name="build-name-substrate">
            <a:extLst xmlns:a="http://schemas.openxmlformats.org/drawingml/2006/main">
              <a:ext uri="{FF2B5EF4-FFF2-40B4-BE49-F238E27FC236}">
                <a16:creationId xmlns:a16="http://schemas.microsoft.com/office/drawing/2014/main" id="{91BD7E4B-DC4B-4308-B61C-34FB0B09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61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4EFE5"/>
                </a:solidFill>
              </a:defRPr>
            </a:pPr>
            <a:r>
              <a:rPr sz="1125" b="1" i="0">
                <a:solidFill>
                  <a:srgbClr val="F4EFE5"/>
                </a:solidFill>
              </a:rPr>
              <a:t>Substrate</a:t>
            </a:r>
          </a:p>
        </p:txBody>
      </p:sp>
      <p:sp>
        <p:nvSpPr>
          <p:cNvPr id="9" name="build-bar-rules">
            <a:extLst xmlns:a="http://schemas.openxmlformats.org/drawingml/2006/main">
              <a:ext uri="{FF2B5EF4-FFF2-40B4-BE49-F238E27FC236}">
                <a16:creationId xmlns:a16="http://schemas.microsoft.com/office/drawing/2014/main" id="{55E69F7D-58B3-44BB-9478-333FBFA4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2419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C2C"/>
          </a:solidFill>
          <a:ln xmlns:a="http://schemas.openxmlformats.org/drawingml/2006/main" w="0">
            <a:solidFill>
              <a:srgbClr val="C58C2C"/>
            </a:solidFill>
            <a:prstDash val="solid"/>
          </a:ln>
        </p:spPr>
      </p:sp>
      <p:sp>
        <p:nvSpPr>
          <p:cNvPr id="10" name="build-name-rules">
            <a:extLst xmlns:a="http://schemas.openxmlformats.org/drawingml/2006/main">
              <a:ext uri="{FF2B5EF4-FFF2-40B4-BE49-F238E27FC236}">
                <a16:creationId xmlns:a16="http://schemas.microsoft.com/office/drawing/2014/main" id="{87C086D3-8413-405B-B794-7D696D09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4EFE5"/>
                </a:solidFill>
              </a:defRPr>
            </a:pPr>
            <a:r>
              <a:rPr sz="1125" b="1" i="0">
                <a:solidFill>
                  <a:srgbClr val="F4EFE5"/>
                </a:solidFill>
              </a:rPr>
              <a:t>Rules + Hooks</a:t>
            </a:r>
          </a:p>
        </p:txBody>
      </p:sp>
      <p:sp>
        <p:nvSpPr>
          <p:cNvPr id="11" name="build-bar-skills">
            <a:extLst xmlns:a="http://schemas.openxmlformats.org/drawingml/2006/main">
              <a:ext uri="{FF2B5EF4-FFF2-40B4-BE49-F238E27FC236}">
                <a16:creationId xmlns:a16="http://schemas.microsoft.com/office/drawing/2014/main" id="{EA50159D-6866-4547-B70A-C966E606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48175"/>
            <a:ext cx="3105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F67"/>
          </a:solidFill>
          <a:ln xmlns:a="http://schemas.openxmlformats.org/drawingml/2006/main" w="0">
            <a:solidFill>
              <a:srgbClr val="648F67"/>
            </a:solidFill>
            <a:prstDash val="solid"/>
          </a:ln>
        </p:spPr>
      </p:sp>
      <p:sp>
        <p:nvSpPr>
          <p:cNvPr id="12" name="build-name-skills">
            <a:extLst xmlns:a="http://schemas.openxmlformats.org/drawingml/2006/main">
              <a:ext uri="{FF2B5EF4-FFF2-40B4-BE49-F238E27FC236}">
                <a16:creationId xmlns:a16="http://schemas.microsoft.com/office/drawing/2014/main" id="{429FB0D7-7838-41AB-9530-78355A2B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910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4EFE5"/>
                </a:solidFill>
              </a:defRPr>
            </a:pPr>
            <a:r>
              <a:rPr sz="1125" b="1" i="0">
                <a:solidFill>
                  <a:srgbClr val="F4EFE5"/>
                </a:solidFill>
              </a:rPr>
              <a:t>Skills</a:t>
            </a:r>
          </a:p>
        </p:txBody>
      </p:sp>
      <p:sp>
        <p:nvSpPr>
          <p:cNvPr id="13" name="build-bar-agents">
            <a:extLst xmlns:a="http://schemas.openxmlformats.org/drawingml/2006/main">
              <a:ext uri="{FF2B5EF4-FFF2-40B4-BE49-F238E27FC236}">
                <a16:creationId xmlns:a16="http://schemas.microsoft.com/office/drawing/2014/main" id="{609ED856-DD5D-4402-9059-B0F67C70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00600"/>
            <a:ext cx="37909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2A1"/>
          </a:solidFill>
          <a:ln xmlns:a="http://schemas.openxmlformats.org/drawingml/2006/main" w="0">
            <a:solidFill>
              <a:srgbClr val="8A62A1"/>
            </a:solidFill>
            <a:prstDash val="solid"/>
          </a:ln>
        </p:spPr>
      </p:sp>
      <p:sp>
        <p:nvSpPr>
          <p:cNvPr id="14" name="build-name-agents">
            <a:extLst xmlns:a="http://schemas.openxmlformats.org/drawingml/2006/main">
              <a:ext uri="{FF2B5EF4-FFF2-40B4-BE49-F238E27FC236}">
                <a16:creationId xmlns:a16="http://schemas.microsoft.com/office/drawing/2014/main" id="{F67132E9-B9FE-4071-BBC3-DC30868E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43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4EFE5"/>
                </a:solidFill>
              </a:defRPr>
            </a:pPr>
            <a:r>
              <a:rPr sz="1125" b="1" i="0">
                <a:solidFill>
                  <a:srgbClr val="F4EFE5"/>
                </a:solidFill>
              </a:rPr>
              <a:t>Agents</a:t>
            </a:r>
          </a:p>
        </p:txBody>
      </p:sp>
      <p:sp>
        <p:nvSpPr>
          <p:cNvPr id="15" name="build-bar-tools">
            <a:extLst xmlns:a="http://schemas.openxmlformats.org/drawingml/2006/main">
              <a:ext uri="{FF2B5EF4-FFF2-40B4-BE49-F238E27FC236}">
                <a16:creationId xmlns:a16="http://schemas.microsoft.com/office/drawing/2014/main" id="{74EEDEF4-22F6-49A4-83D8-B2CA9D60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53025"/>
            <a:ext cx="4476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1B9"/>
          </a:solidFill>
          <a:ln xmlns:a="http://schemas.openxmlformats.org/drawingml/2006/main" w="0">
            <a:solidFill>
              <a:srgbClr val="4B91B9"/>
            </a:solidFill>
            <a:prstDash val="solid"/>
          </a:ln>
        </p:spPr>
      </p:sp>
      <p:sp>
        <p:nvSpPr>
          <p:cNvPr id="16" name="build-name-tools">
            <a:extLst xmlns:a="http://schemas.openxmlformats.org/drawingml/2006/main">
              <a:ext uri="{FF2B5EF4-FFF2-40B4-BE49-F238E27FC236}">
                <a16:creationId xmlns:a16="http://schemas.microsoft.com/office/drawing/2014/main" id="{28FDE7B2-749D-4278-ABBB-44F1CAB9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958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4EFE5"/>
                </a:solidFill>
              </a:defRPr>
            </a:pPr>
            <a:r>
              <a:rPr sz="1125" b="1" i="0">
                <a:solidFill>
                  <a:srgbClr val="F4EFE5"/>
                </a:solidFill>
              </a:rPr>
              <a:t>Tools + Data</a:t>
            </a:r>
          </a:p>
        </p:txBody>
      </p:sp>
      <p:sp>
        <p:nvSpPr>
          <p:cNvPr id="17" name="maintain-label">
            <a:extLst xmlns:a="http://schemas.openxmlformats.org/drawingml/2006/main">
              <a:ext uri="{FF2B5EF4-FFF2-40B4-BE49-F238E27FC236}">
                <a16:creationId xmlns:a16="http://schemas.microsoft.com/office/drawing/2014/main" id="{5B96ACF5-252B-404C-92F2-2523AD73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90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4EFE5"/>
                </a:solidFill>
              </a:defRPr>
            </a:pPr>
            <a:r>
              <a:rPr sz="1050" b="1" i="0">
                <a:solidFill>
                  <a:srgbClr val="F4EFE5"/>
                </a:solidFill>
              </a:rPr>
              <a:t>MAINTAIN  ←</a:t>
            </a:r>
          </a:p>
        </p:txBody>
      </p:sp>
      <p:sp>
        <p:nvSpPr>
          <p:cNvPr id="18" name="maintain-dot-tools">
            <a:extLst xmlns:a="http://schemas.openxmlformats.org/drawingml/2006/main">
              <a:ext uri="{FF2B5EF4-FFF2-40B4-BE49-F238E27FC236}">
                <a16:creationId xmlns:a16="http://schemas.microsoft.com/office/drawing/2014/main" id="{87633C8E-FCA2-492A-9491-E0EF8D39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81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91B9"/>
          </a:solidFill>
          <a:ln xmlns:a="http://schemas.openxmlformats.org/drawingml/2006/main" w="0">
            <a:solidFill>
              <a:srgbClr val="4B91B9"/>
            </a:solidFill>
            <a:prstDash val="solid"/>
          </a:ln>
        </p:spPr>
      </p:sp>
      <p:sp>
        <p:nvSpPr>
          <p:cNvPr id="19" name="maintain-name-tools">
            <a:extLst xmlns:a="http://schemas.openxmlformats.org/drawingml/2006/main">
              <a:ext uri="{FF2B5EF4-FFF2-40B4-BE49-F238E27FC236}">
                <a16:creationId xmlns:a16="http://schemas.microsoft.com/office/drawing/2014/main" id="{F898BB3A-10E5-450F-840E-37900E1E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052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4EFE5"/>
                </a:solidFill>
              </a:defRPr>
            </a:pPr>
            <a:r>
              <a:rPr sz="1200" b="1" i="0">
                <a:solidFill>
                  <a:srgbClr val="F4EFE5"/>
                </a:solidFill>
              </a:rPr>
              <a:t>Tools + Data</a:t>
            </a:r>
          </a:p>
        </p:txBody>
      </p:sp>
      <p:sp>
        <p:nvSpPr>
          <p:cNvPr id="20" name="maintain-cadence-tools">
            <a:extLst xmlns:a="http://schemas.openxmlformats.org/drawingml/2006/main">
              <a:ext uri="{FF2B5EF4-FFF2-40B4-BE49-F238E27FC236}">
                <a16:creationId xmlns:a16="http://schemas.microsoft.com/office/drawing/2014/main" id="{2B1E6C24-8D6D-4277-A393-0A006102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242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B91B9"/>
                </a:solidFill>
              </a:defRPr>
            </a:pPr>
            <a:r>
              <a:rPr sz="900" b="1" i="0">
                <a:solidFill>
                  <a:srgbClr val="4B91B9"/>
                </a:solidFill>
              </a:rPr>
              <a:t>HOURS → DAYS</a:t>
            </a:r>
          </a:p>
        </p:txBody>
      </p:sp>
      <p:sp>
        <p:nvSpPr>
          <p:cNvPr id="21" name="maintain-dot-agents">
            <a:extLst xmlns:a="http://schemas.openxmlformats.org/drawingml/2006/main">
              <a:ext uri="{FF2B5EF4-FFF2-40B4-BE49-F238E27FC236}">
                <a16:creationId xmlns:a16="http://schemas.microsoft.com/office/drawing/2014/main" id="{030EB1A8-1B4B-4249-8189-42ACC11E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14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62A1"/>
          </a:solidFill>
          <a:ln xmlns:a="http://schemas.openxmlformats.org/drawingml/2006/main" w="0">
            <a:solidFill>
              <a:srgbClr val="8A62A1"/>
            </a:solidFill>
            <a:prstDash val="solid"/>
          </a:ln>
        </p:spPr>
      </p:sp>
      <p:sp>
        <p:nvSpPr>
          <p:cNvPr id="22" name="maintain-name-agents">
            <a:extLst xmlns:a="http://schemas.openxmlformats.org/drawingml/2006/main">
              <a:ext uri="{FF2B5EF4-FFF2-40B4-BE49-F238E27FC236}">
                <a16:creationId xmlns:a16="http://schemas.microsoft.com/office/drawing/2014/main" id="{0E249488-C21B-4F70-8927-97698B58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386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4EFE5"/>
                </a:solidFill>
              </a:defRPr>
            </a:pPr>
            <a:r>
              <a:rPr sz="1200" b="1" i="0">
                <a:solidFill>
                  <a:srgbClr val="F4EFE5"/>
                </a:solidFill>
              </a:rPr>
              <a:t>Agents</a:t>
            </a:r>
          </a:p>
        </p:txBody>
      </p:sp>
      <p:sp>
        <p:nvSpPr>
          <p:cNvPr id="23" name="maintain-cadence-agents">
            <a:extLst xmlns:a="http://schemas.openxmlformats.org/drawingml/2006/main">
              <a:ext uri="{FF2B5EF4-FFF2-40B4-BE49-F238E27FC236}">
                <a16:creationId xmlns:a16="http://schemas.microsoft.com/office/drawing/2014/main" id="{AC7851D5-563D-4247-817D-44B16E63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57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A62A1"/>
                </a:solidFill>
              </a:defRPr>
            </a:pPr>
            <a:r>
              <a:rPr sz="900" b="1" i="0">
                <a:solidFill>
                  <a:srgbClr val="8A62A1"/>
                </a:solidFill>
              </a:rPr>
              <a:t>≈ 12 DAYS</a:t>
            </a:r>
          </a:p>
        </p:txBody>
      </p:sp>
      <p:sp>
        <p:nvSpPr>
          <p:cNvPr id="24" name="maintain-dot-skills">
            <a:extLst xmlns:a="http://schemas.openxmlformats.org/drawingml/2006/main">
              <a:ext uri="{FF2B5EF4-FFF2-40B4-BE49-F238E27FC236}">
                <a16:creationId xmlns:a16="http://schemas.microsoft.com/office/drawing/2014/main" id="{A3CE3EA4-6EBF-4D8B-80A2-1767C251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48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8F67"/>
          </a:solidFill>
          <a:ln xmlns:a="http://schemas.openxmlformats.org/drawingml/2006/main" w="0">
            <a:solidFill>
              <a:srgbClr val="648F67"/>
            </a:solidFill>
            <a:prstDash val="solid"/>
          </a:ln>
        </p:spPr>
      </p:sp>
      <p:sp>
        <p:nvSpPr>
          <p:cNvPr id="25" name="maintain-name-skills">
            <a:extLst xmlns:a="http://schemas.openxmlformats.org/drawingml/2006/main">
              <a:ext uri="{FF2B5EF4-FFF2-40B4-BE49-F238E27FC236}">
                <a16:creationId xmlns:a16="http://schemas.microsoft.com/office/drawing/2014/main" id="{E7BC29E4-10D6-486F-AD68-45A050A4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719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4EFE5"/>
                </a:solidFill>
              </a:defRPr>
            </a:pPr>
            <a:r>
              <a:rPr sz="1200" b="1" i="0">
                <a:solidFill>
                  <a:srgbClr val="F4EFE5"/>
                </a:solidFill>
              </a:rPr>
              <a:t>Skills</a:t>
            </a:r>
          </a:p>
        </p:txBody>
      </p:sp>
      <p:sp>
        <p:nvSpPr>
          <p:cNvPr id="26" name="maintain-cadence-skills">
            <a:extLst xmlns:a="http://schemas.openxmlformats.org/drawingml/2006/main">
              <a:ext uri="{FF2B5EF4-FFF2-40B4-BE49-F238E27FC236}">
                <a16:creationId xmlns:a16="http://schemas.microsoft.com/office/drawing/2014/main" id="{AF495E2F-A1FA-48BF-B437-E3C11BA7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910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48F67"/>
                </a:solidFill>
              </a:defRPr>
            </a:pPr>
            <a:r>
              <a:rPr sz="900" b="1" i="0">
                <a:solidFill>
                  <a:srgbClr val="648F67"/>
                </a:solidFill>
              </a:rPr>
              <a:t>≈ 24 DAYS</a:t>
            </a:r>
          </a:p>
        </p:txBody>
      </p:sp>
      <p:sp>
        <p:nvSpPr>
          <p:cNvPr id="27" name="maintain-dot-rules">
            <a:extLst xmlns:a="http://schemas.openxmlformats.org/drawingml/2006/main">
              <a:ext uri="{FF2B5EF4-FFF2-40B4-BE49-F238E27FC236}">
                <a16:creationId xmlns:a16="http://schemas.microsoft.com/office/drawing/2014/main" id="{AE0C30D7-858C-4C55-A04E-C87B9A3E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81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8C2C"/>
          </a:solidFill>
          <a:ln xmlns:a="http://schemas.openxmlformats.org/drawingml/2006/main" w="0">
            <a:solidFill>
              <a:srgbClr val="C58C2C"/>
            </a:solidFill>
            <a:prstDash val="solid"/>
          </a:ln>
        </p:spPr>
      </p:sp>
      <p:sp>
        <p:nvSpPr>
          <p:cNvPr id="28" name="maintain-name-rules">
            <a:extLst xmlns:a="http://schemas.openxmlformats.org/drawingml/2006/main">
              <a:ext uri="{FF2B5EF4-FFF2-40B4-BE49-F238E27FC236}">
                <a16:creationId xmlns:a16="http://schemas.microsoft.com/office/drawing/2014/main" id="{2C1C6884-AD4B-4ABD-92D6-074530D0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05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4EFE5"/>
                </a:solidFill>
              </a:defRPr>
            </a:pPr>
            <a:r>
              <a:rPr sz="1200" b="1" i="0">
                <a:solidFill>
                  <a:srgbClr val="F4EFE5"/>
                </a:solidFill>
              </a:rPr>
              <a:t>Rules + Hooks</a:t>
            </a:r>
          </a:p>
        </p:txBody>
      </p:sp>
      <p:sp>
        <p:nvSpPr>
          <p:cNvPr id="29" name="maintain-cadence-rules">
            <a:extLst xmlns:a="http://schemas.openxmlformats.org/drawingml/2006/main">
              <a:ext uri="{FF2B5EF4-FFF2-40B4-BE49-F238E27FC236}">
                <a16:creationId xmlns:a16="http://schemas.microsoft.com/office/drawing/2014/main" id="{E2485707-1C14-4A80-A78F-461CD143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24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C58C2C"/>
                </a:solidFill>
              </a:defRPr>
            </a:pPr>
            <a:r>
              <a:rPr sz="900" b="1" i="0">
                <a:solidFill>
                  <a:srgbClr val="C58C2C"/>
                </a:solidFill>
              </a:rPr>
              <a:t>≈ 60 DAYS</a:t>
            </a:r>
          </a:p>
        </p:txBody>
      </p:sp>
      <p:sp>
        <p:nvSpPr>
          <p:cNvPr id="30" name="maintain-dot-substrate">
            <a:extLst xmlns:a="http://schemas.openxmlformats.org/drawingml/2006/main">
              <a:ext uri="{FF2B5EF4-FFF2-40B4-BE49-F238E27FC236}">
                <a16:creationId xmlns:a16="http://schemas.microsoft.com/office/drawing/2014/main" id="{39872138-B859-4770-8055-E2E9B9DA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14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7651"/>
          </a:solidFill>
          <a:ln xmlns:a="http://schemas.openxmlformats.org/drawingml/2006/main" w="0">
            <a:solidFill>
              <a:srgbClr val="DF7651"/>
            </a:solidFill>
            <a:prstDash val="solid"/>
          </a:ln>
        </p:spPr>
      </p:sp>
      <p:sp>
        <p:nvSpPr>
          <p:cNvPr id="31" name="maintain-name-substrate">
            <a:extLst xmlns:a="http://schemas.openxmlformats.org/drawingml/2006/main">
              <a:ext uri="{FF2B5EF4-FFF2-40B4-BE49-F238E27FC236}">
                <a16:creationId xmlns:a16="http://schemas.microsoft.com/office/drawing/2014/main" id="{CE5058A3-8D9F-4A7A-BE6C-0F015AFC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387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4EFE5"/>
                </a:solidFill>
              </a:defRPr>
            </a:pPr>
            <a:r>
              <a:rPr sz="1200" b="1" i="0">
                <a:solidFill>
                  <a:srgbClr val="F4EFE5"/>
                </a:solidFill>
              </a:rPr>
              <a:t>Substrate</a:t>
            </a:r>
          </a:p>
        </p:txBody>
      </p:sp>
      <p:sp>
        <p:nvSpPr>
          <p:cNvPr id="32" name="maintain-cadence-substrate">
            <a:extLst xmlns:a="http://schemas.openxmlformats.org/drawingml/2006/main">
              <a:ext uri="{FF2B5EF4-FFF2-40B4-BE49-F238E27FC236}">
                <a16:creationId xmlns:a16="http://schemas.microsoft.com/office/drawing/2014/main" id="{6E9D359C-1F9B-44B4-BF9E-23AA87A7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577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F7651"/>
                </a:solidFill>
              </a:defRPr>
            </a:pPr>
            <a:r>
              <a:rPr sz="900" b="1" i="0">
                <a:solidFill>
                  <a:srgbClr val="DF7651"/>
                </a:solidFill>
              </a:rPr>
              <a:t>COMPOUNDS</a:t>
            </a:r>
          </a:p>
        </p:txBody>
      </p:sp>
      <p:sp>
        <p:nvSpPr>
          <p:cNvPr id="33" name="maintain-dot-identity">
            <a:extLst xmlns:a="http://schemas.openxmlformats.org/drawingml/2006/main">
              <a:ext uri="{FF2B5EF4-FFF2-40B4-BE49-F238E27FC236}">
                <a16:creationId xmlns:a16="http://schemas.microsoft.com/office/drawing/2014/main" id="{61B43144-FC86-4BAD-A19A-7087B862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48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0">
            <a:solidFill>
              <a:srgbClr val="F4EFE5"/>
            </a:solidFill>
            <a:prstDash val="solid"/>
          </a:ln>
        </p:spPr>
      </p:sp>
      <p:sp>
        <p:nvSpPr>
          <p:cNvPr id="34" name="maintain-name-identity">
            <a:extLst xmlns:a="http://schemas.openxmlformats.org/drawingml/2006/main">
              <a:ext uri="{FF2B5EF4-FFF2-40B4-BE49-F238E27FC236}">
                <a16:creationId xmlns:a16="http://schemas.microsoft.com/office/drawing/2014/main" id="{CCBC303D-D857-4605-8DF6-BF8BB32B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721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4EFE5"/>
                </a:solidFill>
              </a:defRPr>
            </a:pPr>
            <a:r>
              <a:rPr sz="1200" b="1" i="0">
                <a:solidFill>
                  <a:srgbClr val="F4EFE5"/>
                </a:solidFill>
              </a:rPr>
              <a:t>Identity</a:t>
            </a:r>
          </a:p>
        </p:txBody>
      </p:sp>
      <p:sp>
        <p:nvSpPr>
          <p:cNvPr id="35" name="maintain-cadence-identity">
            <a:extLst xmlns:a="http://schemas.openxmlformats.org/drawingml/2006/main">
              <a:ext uri="{FF2B5EF4-FFF2-40B4-BE49-F238E27FC236}">
                <a16:creationId xmlns:a16="http://schemas.microsoft.com/office/drawing/2014/main" id="{EBEBDC40-BBDA-4A3D-8D2F-967C750D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91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4EFE5"/>
                </a:solidFill>
              </a:defRPr>
            </a:pPr>
            <a:r>
              <a:rPr sz="900" b="1" i="0">
                <a:solidFill>
                  <a:srgbClr val="F4EFE5"/>
                </a:solidFill>
              </a:rPr>
              <a:t>≈ 240 DAYS</a:t>
            </a:r>
          </a:p>
        </p:txBody>
      </p:sp>
      <p:sp>
        <p:nvSpPr>
          <p:cNvPr id="36" name="closing-action-band">
            <a:extLst xmlns:a="http://schemas.openxmlformats.org/drawingml/2006/main">
              <a:ext uri="{FF2B5EF4-FFF2-40B4-BE49-F238E27FC236}">
                <a16:creationId xmlns:a16="http://schemas.microsoft.com/office/drawing/2014/main" id="{F908964A-2CB0-4BCC-9A98-60A22619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48375"/>
            <a:ext cx="12192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7651"/>
          </a:solidFill>
          <a:ln xmlns:a="http://schemas.openxmlformats.org/drawingml/2006/main" w="0">
            <a:solidFill>
              <a:srgbClr val="DF7651"/>
            </a:solidFill>
            <a:prstDash val="solid"/>
          </a:ln>
        </p:spPr>
      </p:sp>
      <p:sp>
        <p:nvSpPr>
          <p:cNvPr id="37" name="closing-action">
            <a:extLst xmlns:a="http://schemas.openxmlformats.org/drawingml/2006/main">
              <a:ext uri="{FF2B5EF4-FFF2-40B4-BE49-F238E27FC236}">
                <a16:creationId xmlns:a16="http://schemas.microsoft.com/office/drawing/2014/main" id="{DE6EC42A-B35B-4292-942E-64EF1CE9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YOUR V0  /  identity.md + evidence + two skills + one role + live tools</a:t>
            </a:r>
          </a:p>
        </p:txBody>
      </p:sp>
      <p:sp>
        <p:nvSpPr>
          <p:cNvPr id="38" name="footer-9">
            <a:extLst xmlns:a="http://schemas.openxmlformats.org/drawingml/2006/main">
              <a:ext uri="{FF2B5EF4-FFF2-40B4-BE49-F238E27FC236}">
                <a16:creationId xmlns:a16="http://schemas.microsoft.com/office/drawing/2014/main" id="{9EB4D07E-00DC-4430-9D7E-F0C946D5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EB8AD"/>
                </a:solidFill>
              </a:defRPr>
            </a:pPr>
            <a:r>
              <a:rPr sz="825" b="1" i="0">
                <a:solidFill>
                  <a:srgbClr val="BEB8AD"/>
                </a:solidFill>
              </a:rPr>
              <a:t>THE AGENTIC OS FIELD GUIDE</a:t>
            </a:r>
          </a:p>
        </p:txBody>
      </p:sp>
      <p:sp>
        <p:nvSpPr>
          <p:cNvPr id="39" name="page-9">
            <a:extLst xmlns:a="http://schemas.openxmlformats.org/drawingml/2006/main">
              <a:ext uri="{FF2B5EF4-FFF2-40B4-BE49-F238E27FC236}">
                <a16:creationId xmlns:a16="http://schemas.microsoft.com/office/drawing/2014/main" id="{726C5695-E5B5-4F38-AF33-4F5E819F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EB8AD"/>
                </a:solidFill>
              </a:defRPr>
            </a:pPr>
            <a:r>
              <a:rPr sz="825" b="1" i="0">
                <a:solidFill>
                  <a:srgbClr val="BEB8A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35592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2026-07-28T21:15:39.8830000Z</dcterms:created>
  <dcterms:modified xsi:type="dcterms:W3CDTF">2026-07-28T21:15:39.8830000Z</dcterms:modified>
</coreProperties>
</file>